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334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30FC5-46F6-596E-875E-3EB1B0DABE24}" v="110" dt="2026-02-07T16:33:04.757"/>
    <p1510:client id="{DB9A9A4C-0B87-CEB7-7580-5992CD527545}" v="549" dt="2026-02-07T16:59:35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CAF9B-015A-4AB7-93EC-A5DCB1BCCEC9}" type="datetimeFigureOut"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F3813-3CDC-4271-9490-D5026B1D0D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77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21.sv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2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21.sv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20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" Type="http://schemas.openxmlformats.org/officeDocument/2006/relationships/image" Target="../media/image57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29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5" Type="http://schemas.openxmlformats.org/officeDocument/2006/relationships/image" Target="../media/image20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28" Type="http://schemas.openxmlformats.org/officeDocument/2006/relationships/image" Target="../media/image80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31" Type="http://schemas.openxmlformats.org/officeDocument/2006/relationships/image" Target="../media/image83.png"/><Relationship Id="rId4" Type="http://schemas.openxmlformats.org/officeDocument/2006/relationships/image" Target="../media/image58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Relationship Id="rId27" Type="http://schemas.openxmlformats.org/officeDocument/2006/relationships/image" Target="../media/image79.png"/><Relationship Id="rId30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7.png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21.sv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20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105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21.sv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4" Type="http://schemas.openxmlformats.org/officeDocument/2006/relationships/image" Target="../media/image20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3" Type="http://schemas.openxmlformats.org/officeDocument/2006/relationships/image" Target="../media/image121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127.png"/><Relationship Id="rId5" Type="http://schemas.openxmlformats.org/officeDocument/2006/relationships/image" Target="../media/image20.png"/><Relationship Id="rId15" Type="http://schemas.openxmlformats.org/officeDocument/2006/relationships/image" Target="../media/image131.png"/><Relationship Id="rId10" Type="http://schemas.openxmlformats.org/officeDocument/2006/relationships/image" Target="../media/image126.png"/><Relationship Id="rId4" Type="http://schemas.openxmlformats.org/officeDocument/2006/relationships/image" Target="../media/image122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" Type="http://schemas.openxmlformats.org/officeDocument/2006/relationships/image" Target="../media/image133.png"/><Relationship Id="rId21" Type="http://schemas.openxmlformats.org/officeDocument/2006/relationships/image" Target="../media/image149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17" Type="http://schemas.openxmlformats.org/officeDocument/2006/relationships/image" Target="../media/image145.png"/><Relationship Id="rId25" Type="http://schemas.openxmlformats.org/officeDocument/2006/relationships/image" Target="../media/image15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24" Type="http://schemas.openxmlformats.org/officeDocument/2006/relationships/image" Target="../media/image152.png"/><Relationship Id="rId5" Type="http://schemas.openxmlformats.org/officeDocument/2006/relationships/image" Target="../media/image21.sv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28" Type="http://schemas.openxmlformats.org/officeDocument/2006/relationships/image" Target="../media/image53.png"/><Relationship Id="rId10" Type="http://schemas.openxmlformats.org/officeDocument/2006/relationships/image" Target="../media/image138.png"/><Relationship Id="rId19" Type="http://schemas.openxmlformats.org/officeDocument/2006/relationships/image" Target="../media/image147.png"/><Relationship Id="rId4" Type="http://schemas.openxmlformats.org/officeDocument/2006/relationships/image" Target="../media/image20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Relationship Id="rId27" Type="http://schemas.openxmlformats.org/officeDocument/2006/relationships/image" Target="../media/image1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6.pn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871" b="-4871"/>
          <a:stretch/>
        </p:blipFill>
        <p:spPr>
          <a:xfrm>
            <a:off x="1218895" y="1028700"/>
            <a:ext cx="1790395" cy="157185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4871" b="-4871"/>
          <a:stretch/>
        </p:blipFill>
        <p:spPr>
          <a:xfrm>
            <a:off x="9182405" y="4257446"/>
            <a:ext cx="1790395" cy="157185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noFill/>
          <a:ln w="25400">
            <a:solidFill>
              <a:srgbClr val="34D399">
                <a:alpha val="10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noFill/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381305" y="62106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495605" y="62106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09905" y="62106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24205" y="62106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38505" y="62106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81305" y="63249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95605" y="63249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09905" y="63249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24205" y="63249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38505" y="63249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81305" y="64392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95605" y="64392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9905" y="64392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24205" y="64392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38505" y="6439205"/>
            <a:ext cx="38405" cy="38405"/>
          </a:xfrm>
          <a:prstGeom prst="ellipse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248156" y="2144268"/>
            <a:ext cx="969721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kern="0" spc="-9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Smart Parking </a:t>
            </a:r>
            <a:endParaRPr lang="en-US" sz="4800"/>
          </a:p>
          <a:p>
            <a:pPr marL="0" indent="0" algn="ctr">
              <a:buNone/>
            </a:pPr>
            <a:r>
              <a:rPr lang="en-US" sz="4800" b="1" kern="0" spc="-96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</a:t>
            </a:r>
            <a:r>
              <a:rPr lang="en-US" sz="4800" b="1" kern="0" spc="-9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Reservation System </a:t>
            </a:r>
            <a:endParaRPr lang="en-US" sz="4800"/>
          </a:p>
        </p:txBody>
      </p:sp>
      <p:sp>
        <p:nvSpPr>
          <p:cNvPr id="27" name="Text 21"/>
          <p:cNvSpPr txBox="1"/>
          <p:nvPr/>
        </p:nvSpPr>
        <p:spPr>
          <a:xfrm>
            <a:off x="1276502" y="3714293"/>
            <a:ext cx="96396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kern="0" spc="105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Parking Management with IoT Automation</a:t>
            </a:r>
            <a:endParaRPr lang="en-US" sz="2100"/>
          </a:p>
        </p:txBody>
      </p:sp>
      <p:sp>
        <p:nvSpPr>
          <p:cNvPr id="31" name="Shape 24"/>
          <p:cNvSpPr/>
          <p:nvPr/>
        </p:nvSpPr>
        <p:spPr>
          <a:xfrm>
            <a:off x="3878885" y="4571086"/>
            <a:ext cx="4438498" cy="1095451"/>
          </a:xfrm>
          <a:prstGeom prst="roundRect">
            <a:avLst>
              <a:gd name="adj" fmla="val 5807"/>
            </a:avLst>
          </a:prstGeom>
          <a:solidFill>
            <a:srgbClr val="182334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287622" y="4808830"/>
            <a:ext cx="3620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5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000"/>
          </a:p>
        </p:txBody>
      </p:sp>
      <p:sp>
        <p:nvSpPr>
          <p:cNvPr id="29" name="Text 23"/>
          <p:cNvSpPr txBox="1"/>
          <p:nvPr/>
        </p:nvSpPr>
        <p:spPr>
          <a:xfrm>
            <a:off x="4127602" y="5085893"/>
            <a:ext cx="39410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7521955</a:t>
            </a:r>
            <a:r>
              <a:rPr lang="en-US" sz="18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Davronbek Orifjonov </a:t>
            </a:r>
            <a:endParaRPr lang="en-US" sz="180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469" r="-469"/>
          <a:stretch/>
        </p:blipFill>
        <p:spPr>
          <a:xfrm>
            <a:off x="5843930" y="1191463"/>
            <a:ext cx="504749" cy="571500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5041" b="-5041"/>
          <a:stretch/>
        </p:blipFill>
        <p:spPr>
          <a:xfrm>
            <a:off x="8201254" y="3400654"/>
            <a:ext cx="4466844" cy="393374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228600"/>
            <a:ext cx="6649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Motivation - Urban Parking Challenges </a:t>
            </a:r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" y="304495"/>
            <a:ext cx="304495" cy="304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609905" y="1666951"/>
            <a:ext cx="3840480" cy="1371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5995" y="1895551"/>
            <a:ext cx="3543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</a:t>
            </a:r>
            <a:endParaRPr lang="en-US" sz="3000"/>
          </a:p>
        </p:txBody>
      </p:sp>
      <p:sp>
        <p:nvSpPr>
          <p:cNvPr id="13" name="Text 7"/>
          <p:cNvSpPr txBox="1"/>
          <p:nvPr/>
        </p:nvSpPr>
        <p:spPr>
          <a:xfrm>
            <a:off x="875995" y="2352751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traffic congestion caused by searching for parking</a:t>
            </a:r>
            <a:endParaRPr lang="en-US" sz="120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609905" y="3343961"/>
            <a:ext cx="3840480" cy="1371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5995" y="3572561"/>
            <a:ext cx="3543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min</a:t>
            </a:r>
            <a:endParaRPr lang="en-US" sz="3000"/>
          </a:p>
        </p:txBody>
      </p:sp>
      <p:sp>
        <p:nvSpPr>
          <p:cNvPr id="16" name="Text 9"/>
          <p:cNvSpPr txBox="1"/>
          <p:nvPr/>
        </p:nvSpPr>
        <p:spPr>
          <a:xfrm>
            <a:off x="875995" y="4029761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wasted per driver finding available spots</a:t>
            </a:r>
            <a:endParaRPr lang="en-US" sz="120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 l="-2" r="-2"/>
          <a:stretch/>
        </p:blipFill>
        <p:spPr>
          <a:xfrm>
            <a:off x="609905" y="5020056"/>
            <a:ext cx="3840480" cy="1371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75995" y="5248656"/>
            <a:ext cx="35433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$$$</a:t>
            </a:r>
            <a:endParaRPr lang="en-US" sz="3000"/>
          </a:p>
        </p:txBody>
      </p:sp>
      <p:sp>
        <p:nvSpPr>
          <p:cNvPr id="19" name="Text 11"/>
          <p:cNvSpPr txBox="1"/>
          <p:nvPr/>
        </p:nvSpPr>
        <p:spPr>
          <a:xfrm>
            <a:off x="875995" y="57058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Lost revenue from inefficient space utilization</a:t>
            </a:r>
            <a:endParaRPr lang="en-US" sz="1200"/>
          </a:p>
        </p:txBody>
      </p:sp>
      <p:sp>
        <p:nvSpPr>
          <p:cNvPr id="20" name="Shape 12"/>
          <p:cNvSpPr/>
          <p:nvPr/>
        </p:nvSpPr>
        <p:spPr>
          <a:xfrm>
            <a:off x="4907585" y="1238098"/>
            <a:ext cx="6676949" cy="895198"/>
          </a:xfrm>
          <a:prstGeom prst="roundRect">
            <a:avLst>
              <a:gd name="adj" fmla="val 8693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069434" y="1399946"/>
            <a:ext cx="381305" cy="38130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t="-842" b="-842"/>
          <a:stretch/>
        </p:blipFill>
        <p:spPr>
          <a:xfrm>
            <a:off x="5164531" y="1505102"/>
            <a:ext cx="190195" cy="17190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640934" y="1399946"/>
            <a:ext cx="5858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Traffic Congestion:</a:t>
            </a:r>
            <a:r>
              <a:rPr lang="en-US" sz="13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Aimless circling for parking significantly contributes to urban traffic jams and delays.</a:t>
            </a:r>
            <a:endParaRPr lang="en-US" sz="1300"/>
          </a:p>
        </p:txBody>
      </p:sp>
      <p:sp>
        <p:nvSpPr>
          <p:cNvPr id="24" name="Shape 15"/>
          <p:cNvSpPr/>
          <p:nvPr/>
        </p:nvSpPr>
        <p:spPr>
          <a:xfrm>
            <a:off x="4907585" y="2354580"/>
            <a:ext cx="6676949" cy="895198"/>
          </a:xfrm>
          <a:prstGeom prst="roundRect">
            <a:avLst>
              <a:gd name="adj" fmla="val 8693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5069434" y="2516429"/>
            <a:ext cx="381305" cy="38130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173675" y="2621585"/>
            <a:ext cx="171907" cy="171907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640934" y="2516429"/>
            <a:ext cx="5858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Impact:</a:t>
            </a:r>
            <a:r>
              <a:rPr lang="en-US" sz="13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Increased fuel consumption and carbon emissions from vehicles searching for spots.</a:t>
            </a:r>
            <a:endParaRPr lang="en-US" sz="1300"/>
          </a:p>
        </p:txBody>
      </p:sp>
      <p:sp>
        <p:nvSpPr>
          <p:cNvPr id="28" name="Shape 18"/>
          <p:cNvSpPr/>
          <p:nvPr/>
        </p:nvSpPr>
        <p:spPr>
          <a:xfrm>
            <a:off x="4907585" y="3471062"/>
            <a:ext cx="6676949" cy="895198"/>
          </a:xfrm>
          <a:prstGeom prst="roundRect">
            <a:avLst>
              <a:gd name="adj" fmla="val 8693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5069434" y="3632911"/>
            <a:ext cx="381305" cy="38130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173675" y="3738067"/>
            <a:ext cx="171907" cy="171907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640934" y="3632911"/>
            <a:ext cx="5858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Frustration:</a:t>
            </a:r>
            <a:r>
              <a:rPr lang="en-US" sz="13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High stress levels and wasted time create poor user experiences in city centers.</a:t>
            </a:r>
            <a:endParaRPr lang="en-US" sz="1300"/>
          </a:p>
        </p:txBody>
      </p:sp>
      <p:sp>
        <p:nvSpPr>
          <p:cNvPr id="32" name="Shape 21"/>
          <p:cNvSpPr/>
          <p:nvPr/>
        </p:nvSpPr>
        <p:spPr>
          <a:xfrm>
            <a:off x="4907585" y="4587545"/>
            <a:ext cx="6676949" cy="895198"/>
          </a:xfrm>
          <a:prstGeom prst="roundRect">
            <a:avLst>
              <a:gd name="adj" fmla="val 8693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5069434" y="4749394"/>
            <a:ext cx="381305" cy="38130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rcRect t="-1310" b="-1310"/>
          <a:stretch/>
        </p:blipFill>
        <p:spPr>
          <a:xfrm>
            <a:off x="5154473" y="4854550"/>
            <a:ext cx="209398" cy="171907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5640934" y="4749394"/>
            <a:ext cx="5858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Real-time Data:</a:t>
            </a:r>
            <a:r>
              <a:rPr lang="en-US" sz="13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Traditional systems offer no visibility into current availability before arrival.</a:t>
            </a:r>
            <a:endParaRPr lang="en-US" sz="1300"/>
          </a:p>
        </p:txBody>
      </p:sp>
      <p:sp>
        <p:nvSpPr>
          <p:cNvPr id="36" name="Shape 24"/>
          <p:cNvSpPr/>
          <p:nvPr/>
        </p:nvSpPr>
        <p:spPr>
          <a:xfrm>
            <a:off x="4907585" y="5704027"/>
            <a:ext cx="6676949" cy="895198"/>
          </a:xfrm>
          <a:prstGeom prst="roundRect">
            <a:avLst>
              <a:gd name="adj" fmla="val 8693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34D399">
                <a:alpha val="10000"/>
              </a:srgbClr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5069434" y="5865876"/>
            <a:ext cx="381305" cy="381305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173675" y="5971032"/>
            <a:ext cx="171907" cy="171907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640934" y="5865876"/>
            <a:ext cx="5858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Inefficient Enforcement:</a:t>
            </a:r>
            <a:r>
              <a:rPr lang="en-US" sz="130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Manual checking of reserved slots is labor-intensive and prone to errors.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4756" y="3191256"/>
            <a:ext cx="4238244" cy="423824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476402" y="952805"/>
            <a:ext cx="3514954" cy="351495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14400" y="228600"/>
            <a:ext cx="3572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Objectives and Scope </a:t>
            </a:r>
            <a:endParaRPr lang="en-US" sz="24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04495"/>
            <a:ext cx="30449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/>
          </a:p>
        </p:txBody>
      </p:sp>
      <p:sp>
        <p:nvSpPr>
          <p:cNvPr id="12" name="Shape 6"/>
          <p:cNvSpPr/>
          <p:nvPr/>
        </p:nvSpPr>
        <p:spPr>
          <a:xfrm>
            <a:off x="457200" y="1238098"/>
            <a:ext cx="5486400" cy="1619402"/>
          </a:xfrm>
          <a:prstGeom prst="roundRect">
            <a:avLst>
              <a:gd name="adj" fmla="val 39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57454" y="1438351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1591056"/>
            <a:ext cx="267005" cy="2670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19149" y="1438351"/>
            <a:ext cx="4439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Multi-sensor IoT Lock Devices</a:t>
            </a:r>
            <a:endParaRPr lang="en-US" sz="1300"/>
          </a:p>
        </p:txBody>
      </p:sp>
      <p:sp>
        <p:nvSpPr>
          <p:cNvPr id="16" name="Text 9"/>
          <p:cNvSpPr txBox="1"/>
          <p:nvPr/>
        </p:nvSpPr>
        <p:spPr>
          <a:xfrm>
            <a:off x="1419149" y="1765706"/>
            <a:ext cx="44010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</a:t>
            </a:r>
            <a:r>
              <a:rPr lang="en-US" sz="110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magnetic sensor</a:t>
            </a: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vehicle detection, battery monitoring, signal tracking, mechanical arm actuator, and tamper alarm into unified units.</a:t>
            </a:r>
            <a:endParaRPr lang="en-US" sz="1100"/>
          </a:p>
        </p:txBody>
      </p:sp>
      <p:sp>
        <p:nvSpPr>
          <p:cNvPr id="17" name="Shape 10"/>
          <p:cNvSpPr/>
          <p:nvPr/>
        </p:nvSpPr>
        <p:spPr>
          <a:xfrm>
            <a:off x="457200" y="3086100"/>
            <a:ext cx="5486400" cy="1619402"/>
          </a:xfrm>
          <a:prstGeom prst="roundRect">
            <a:avLst>
              <a:gd name="adj" fmla="val 39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57454" y="3286354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6326" y="3438144"/>
            <a:ext cx="333756" cy="2670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419149" y="3286354"/>
            <a:ext cx="4439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MQTT Communication</a:t>
            </a:r>
            <a:endParaRPr lang="en-US" sz="1300"/>
          </a:p>
        </p:txBody>
      </p:sp>
      <p:sp>
        <p:nvSpPr>
          <p:cNvPr id="21" name="Text 13"/>
          <p:cNvSpPr txBox="1"/>
          <p:nvPr/>
        </p:nvSpPr>
        <p:spPr>
          <a:xfrm>
            <a:off x="1419149" y="3613709"/>
            <a:ext cx="44010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MQTT protocol with </a:t>
            </a:r>
            <a:r>
              <a:rPr lang="en-US" sz="110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topic types</a:t>
            </a: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(up_link, down_link, down_link_ack, heartbeat) for robust bidirectional IoT messaging.</a:t>
            </a:r>
            <a:endParaRPr lang="en-US" sz="1100"/>
          </a:p>
        </p:txBody>
      </p:sp>
      <p:sp>
        <p:nvSpPr>
          <p:cNvPr id="22" name="Shape 14"/>
          <p:cNvSpPr/>
          <p:nvPr/>
        </p:nvSpPr>
        <p:spPr>
          <a:xfrm>
            <a:off x="457200" y="4934102"/>
            <a:ext cx="5486400" cy="1619402"/>
          </a:xfrm>
          <a:prstGeom prst="roundRect">
            <a:avLst>
              <a:gd name="adj" fmla="val 39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657454" y="5134356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9244" y="5286146"/>
            <a:ext cx="267005" cy="2670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419149" y="5134356"/>
            <a:ext cx="4439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 Coordination Layer</a:t>
            </a:r>
            <a:endParaRPr lang="en-US" sz="1300"/>
          </a:p>
        </p:txBody>
      </p:sp>
      <p:sp>
        <p:nvSpPr>
          <p:cNvPr id="26" name="Text 17"/>
          <p:cNvSpPr txBox="1"/>
          <p:nvPr/>
        </p:nvSpPr>
        <p:spPr>
          <a:xfrm>
            <a:off x="1419149" y="5461711"/>
            <a:ext cx="44010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gateway devices managing multiple locks with centralized </a:t>
            </a:r>
            <a:r>
              <a:rPr lang="en-US" sz="110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processing</a:t>
            </a: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status aggregation, and health monitoring.</a:t>
            </a:r>
            <a:endParaRPr lang="en-US" sz="1100"/>
          </a:p>
        </p:txBody>
      </p:sp>
      <p:sp>
        <p:nvSpPr>
          <p:cNvPr id="27" name="Shape 18"/>
          <p:cNvSpPr/>
          <p:nvPr/>
        </p:nvSpPr>
        <p:spPr>
          <a:xfrm>
            <a:off x="6248095" y="1238098"/>
            <a:ext cx="5486400" cy="1619402"/>
          </a:xfrm>
          <a:prstGeom prst="roundRect">
            <a:avLst>
              <a:gd name="adj" fmla="val 39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6448349" y="1438351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01054" y="1591056"/>
            <a:ext cx="267005" cy="26700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210044" y="1438351"/>
            <a:ext cx="4439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Reservation Lifecycle</a:t>
            </a:r>
            <a:endParaRPr lang="en-US" sz="1300"/>
          </a:p>
        </p:txBody>
      </p:sp>
      <p:sp>
        <p:nvSpPr>
          <p:cNvPr id="31" name="Text 21"/>
          <p:cNvSpPr txBox="1"/>
          <p:nvPr/>
        </p:nvSpPr>
        <p:spPr>
          <a:xfrm>
            <a:off x="7210044" y="1765706"/>
            <a:ext cx="44010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complete workflow from slot reservation through vehicle arrival detection to </a:t>
            </a:r>
            <a:r>
              <a:rPr lang="en-US" sz="110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status updates</a:t>
            </a: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expiration handling.</a:t>
            </a:r>
            <a:endParaRPr lang="en-US" sz="1100"/>
          </a:p>
        </p:txBody>
      </p:sp>
      <p:sp>
        <p:nvSpPr>
          <p:cNvPr id="32" name="Shape 22"/>
          <p:cNvSpPr/>
          <p:nvPr/>
        </p:nvSpPr>
        <p:spPr>
          <a:xfrm>
            <a:off x="6248095" y="3086100"/>
            <a:ext cx="5486400" cy="1619402"/>
          </a:xfrm>
          <a:prstGeom prst="roundRect">
            <a:avLst>
              <a:gd name="adj" fmla="val 39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6448349" y="3286354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01054" y="3438144"/>
            <a:ext cx="267005" cy="26700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7210044" y="3286354"/>
            <a:ext cx="4439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Web Dashboard</a:t>
            </a:r>
            <a:endParaRPr lang="en-US" sz="1300"/>
          </a:p>
        </p:txBody>
      </p:sp>
      <p:sp>
        <p:nvSpPr>
          <p:cNvPr id="36" name="Text 25"/>
          <p:cNvSpPr txBox="1"/>
          <p:nvPr/>
        </p:nvSpPr>
        <p:spPr>
          <a:xfrm>
            <a:off x="7210044" y="3613709"/>
            <a:ext cx="44010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responsive interface with </a:t>
            </a:r>
            <a:r>
              <a:rPr lang="en-US" sz="110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maps</a:t>
            </a: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live status updates via WebSocket, and comprehensive monitoring capabilities.</a:t>
            </a:r>
            <a:endParaRPr lang="en-US" sz="1100"/>
          </a:p>
        </p:txBody>
      </p:sp>
      <p:sp>
        <p:nvSpPr>
          <p:cNvPr id="37" name="Shape 26"/>
          <p:cNvSpPr/>
          <p:nvPr/>
        </p:nvSpPr>
        <p:spPr>
          <a:xfrm>
            <a:off x="6248095" y="4934102"/>
            <a:ext cx="5486400" cy="1619402"/>
          </a:xfrm>
          <a:prstGeom prst="roundRect">
            <a:avLst>
              <a:gd name="adj" fmla="val 398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6448349" y="5134356"/>
            <a:ext cx="571500" cy="571500"/>
          </a:xfrm>
          <a:prstGeom prst="roundRect">
            <a:avLst>
              <a:gd name="adj" fmla="val 21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3"/>
          <a:srcRect l="-881" r="-881"/>
          <a:stretch/>
        </p:blipFill>
        <p:spPr>
          <a:xfrm>
            <a:off x="6614770" y="5286146"/>
            <a:ext cx="237744" cy="2670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210044" y="5134356"/>
            <a:ext cx="44394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6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Persistence &amp; Visualization</a:t>
            </a:r>
            <a:endParaRPr lang="en-US" sz="1300"/>
          </a:p>
        </p:txBody>
      </p:sp>
      <p:sp>
        <p:nvSpPr>
          <p:cNvPr id="41" name="Text 29"/>
          <p:cNvSpPr txBox="1"/>
          <p:nvPr/>
        </p:nvSpPr>
        <p:spPr>
          <a:xfrm>
            <a:off x="7210044" y="5461711"/>
            <a:ext cx="44010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in-memory storage with </a:t>
            </a:r>
            <a:r>
              <a:rPr lang="en-US" sz="110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logs</a:t>
            </a:r>
            <a:r>
              <a:rPr lang="en-US" sz="11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sensor data tracking, and reservation management for operational visibility.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5429E1F0-22A3-D481-0863-B7097ADE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>
            <a:extLst>
              <a:ext uri="{FF2B5EF4-FFF2-40B4-BE49-F238E27FC236}">
                <a16:creationId xmlns:a16="http://schemas.microsoft.com/office/drawing/2014/main" id="{01BBD98A-7BD3-A87A-2590-2043994D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899" r="-1899"/>
          <a:stretch/>
        </p:blipFill>
        <p:spPr>
          <a:xfrm>
            <a:off x="10116007" y="4543654"/>
            <a:ext cx="2361895" cy="260055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75995" y="228600"/>
            <a:ext cx="1919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Model </a:t>
            </a:r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457200" y="304495"/>
            <a:ext cx="267005" cy="304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/>
          </a:p>
        </p:txBody>
      </p:sp>
      <p:sp>
        <p:nvSpPr>
          <p:cNvPr id="11" name="Text 6"/>
          <p:cNvSpPr txBox="1"/>
          <p:nvPr/>
        </p:nvSpPr>
        <p:spPr>
          <a:xfrm>
            <a:off x="761695" y="1238098"/>
            <a:ext cx="7144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Core Entities </a:t>
            </a:r>
            <a:endParaRPr lang="en-US" sz="15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1285646"/>
            <a:ext cx="190195" cy="19019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1981505"/>
            <a:ext cx="3552444" cy="2171700"/>
          </a:xfrm>
          <a:prstGeom prst="roundRect">
            <a:avLst>
              <a:gd name="adj" fmla="val 147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457200" y="1981505"/>
            <a:ext cx="38405" cy="2171700"/>
          </a:xfrm>
          <a:prstGeom prst="roundRect">
            <a:avLst>
              <a:gd name="adj" fmla="val 8354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85800" y="2467051"/>
            <a:ext cx="31336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rcRect t="-2725" b="-2725"/>
          <a:stretch/>
        </p:blipFill>
        <p:spPr>
          <a:xfrm>
            <a:off x="685800" y="2173529"/>
            <a:ext cx="142646" cy="17190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42746" y="2133295"/>
            <a:ext cx="11722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Parking Lots</a:t>
            </a:r>
            <a:endParaRPr lang="en-US" sz="1300"/>
          </a:p>
        </p:txBody>
      </p:sp>
      <p:sp>
        <p:nvSpPr>
          <p:cNvPr id="18" name="Text 11"/>
          <p:cNvSpPr txBox="1"/>
          <p:nvPr/>
        </p:nvSpPr>
        <p:spPr>
          <a:xfrm>
            <a:off x="685800" y="258500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(PK)</a:t>
            </a:r>
            <a:endParaRPr lang="en-US" sz="900"/>
          </a:p>
        </p:txBody>
      </p:sp>
      <p:sp>
        <p:nvSpPr>
          <p:cNvPr id="19" name="Text 12"/>
          <p:cNvSpPr txBox="1"/>
          <p:nvPr/>
        </p:nvSpPr>
        <p:spPr>
          <a:xfrm>
            <a:off x="685800" y="2816352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00"/>
          </a:p>
        </p:txBody>
      </p:sp>
      <p:sp>
        <p:nvSpPr>
          <p:cNvPr id="20" name="Text 13"/>
          <p:cNvSpPr txBox="1"/>
          <p:nvPr/>
        </p:nvSpPr>
        <p:spPr>
          <a:xfrm>
            <a:off x="685800" y="3048610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00"/>
          </a:p>
        </p:txBody>
      </p:sp>
      <p:sp>
        <p:nvSpPr>
          <p:cNvPr id="21" name="Text 14"/>
          <p:cNvSpPr txBox="1"/>
          <p:nvPr/>
        </p:nvSpPr>
        <p:spPr>
          <a:xfrm>
            <a:off x="685800" y="3279953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{lat, lng}</a:t>
            </a:r>
            <a:endParaRPr lang="en-US" sz="900"/>
          </a:p>
        </p:txBody>
      </p:sp>
      <p:sp>
        <p:nvSpPr>
          <p:cNvPr id="22" name="Text 15"/>
          <p:cNvSpPr txBox="1"/>
          <p:nvPr/>
        </p:nvSpPr>
        <p:spPr>
          <a:xfrm>
            <a:off x="685800" y="3511296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total_slots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900"/>
          </a:p>
        </p:txBody>
      </p:sp>
      <p:sp>
        <p:nvSpPr>
          <p:cNvPr id="23" name="Text 16"/>
          <p:cNvSpPr txBox="1"/>
          <p:nvPr/>
        </p:nvSpPr>
        <p:spPr>
          <a:xfrm>
            <a:off x="685800" y="374263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endParaRPr lang="en-US" sz="900"/>
          </a:p>
        </p:txBody>
      </p:sp>
      <p:sp>
        <p:nvSpPr>
          <p:cNvPr id="24" name="Shape 17"/>
          <p:cNvSpPr/>
          <p:nvPr/>
        </p:nvSpPr>
        <p:spPr>
          <a:xfrm>
            <a:off x="4236415" y="1981505"/>
            <a:ext cx="3552444" cy="2171700"/>
          </a:xfrm>
          <a:prstGeom prst="roundRect">
            <a:avLst>
              <a:gd name="adj" fmla="val 147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36415" y="1981505"/>
            <a:ext cx="38405" cy="2171700"/>
          </a:xfrm>
          <a:prstGeom prst="roundRect">
            <a:avLst>
              <a:gd name="adj" fmla="val 83542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65015" y="2467051"/>
            <a:ext cx="31336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9"/>
          <a:srcRect t="-2725" b="-2725"/>
          <a:stretch/>
        </p:blipFill>
        <p:spPr>
          <a:xfrm>
            <a:off x="4465015" y="2173529"/>
            <a:ext cx="142646" cy="17190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22876" y="2133295"/>
            <a:ext cx="1228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Parking Slots</a:t>
            </a:r>
            <a:endParaRPr lang="en-US" sz="1300"/>
          </a:p>
        </p:txBody>
      </p:sp>
      <p:sp>
        <p:nvSpPr>
          <p:cNvPr id="29" name="Text 21"/>
          <p:cNvSpPr txBox="1"/>
          <p:nvPr/>
        </p:nvSpPr>
        <p:spPr>
          <a:xfrm>
            <a:off x="4465015" y="258500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(PK)</a:t>
            </a:r>
            <a:endParaRPr lang="en-US" sz="900"/>
          </a:p>
        </p:txBody>
      </p:sp>
      <p:sp>
        <p:nvSpPr>
          <p:cNvPr id="30" name="Text 22"/>
          <p:cNvSpPr txBox="1"/>
          <p:nvPr/>
        </p:nvSpPr>
        <p:spPr>
          <a:xfrm>
            <a:off x="4465015" y="2816352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lot_id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(FK)</a:t>
            </a:r>
            <a:endParaRPr lang="en-US" sz="900"/>
          </a:p>
        </p:txBody>
      </p:sp>
      <p:sp>
        <p:nvSpPr>
          <p:cNvPr id="31" name="Text 23"/>
          <p:cNvSpPr txBox="1"/>
          <p:nvPr/>
        </p:nvSpPr>
        <p:spPr>
          <a:xfrm>
            <a:off x="4465015" y="3048610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gateway_id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00"/>
          </a:p>
        </p:txBody>
      </p:sp>
      <p:sp>
        <p:nvSpPr>
          <p:cNvPr id="32" name="Text 24"/>
          <p:cNvSpPr txBox="1"/>
          <p:nvPr/>
        </p:nvSpPr>
        <p:spPr>
          <a:xfrm>
            <a:off x="4465015" y="3279953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Enum(free/occ...)</a:t>
            </a:r>
            <a:endParaRPr lang="en-US" sz="900"/>
          </a:p>
        </p:txBody>
      </p:sp>
      <p:sp>
        <p:nvSpPr>
          <p:cNvPr id="33" name="Text 25"/>
          <p:cNvSpPr txBox="1"/>
          <p:nvPr/>
        </p:nvSpPr>
        <p:spPr>
          <a:xfrm>
            <a:off x="4465015" y="3511296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(%)</a:t>
            </a:r>
            <a:endParaRPr lang="en-US" sz="900"/>
          </a:p>
        </p:txBody>
      </p:sp>
      <p:sp>
        <p:nvSpPr>
          <p:cNvPr id="34" name="Text 26"/>
          <p:cNvSpPr txBox="1"/>
          <p:nvPr/>
        </p:nvSpPr>
        <p:spPr>
          <a:xfrm>
            <a:off x="4465015" y="374263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(dBm)</a:t>
            </a:r>
            <a:endParaRPr lang="en-US" sz="900"/>
          </a:p>
        </p:txBody>
      </p:sp>
      <p:sp>
        <p:nvSpPr>
          <p:cNvPr id="35" name="Shape 27"/>
          <p:cNvSpPr/>
          <p:nvPr/>
        </p:nvSpPr>
        <p:spPr>
          <a:xfrm>
            <a:off x="457200" y="4381805"/>
            <a:ext cx="3552444" cy="2171700"/>
          </a:xfrm>
          <a:prstGeom prst="roundRect">
            <a:avLst>
              <a:gd name="adj" fmla="val 147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57200" y="4381805"/>
            <a:ext cx="38405" cy="2171700"/>
          </a:xfrm>
          <a:prstGeom prst="roundRect">
            <a:avLst>
              <a:gd name="adj" fmla="val 83542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85800" y="4867351"/>
            <a:ext cx="31336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10"/>
          <a:srcRect t="-2725" b="-2725"/>
          <a:stretch/>
        </p:blipFill>
        <p:spPr>
          <a:xfrm>
            <a:off x="685800" y="4573829"/>
            <a:ext cx="142646" cy="17190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42746" y="4533595"/>
            <a:ext cx="12006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Reservations</a:t>
            </a:r>
            <a:endParaRPr lang="en-US" sz="1300"/>
          </a:p>
        </p:txBody>
      </p:sp>
      <p:sp>
        <p:nvSpPr>
          <p:cNvPr id="40" name="Text 31"/>
          <p:cNvSpPr txBox="1"/>
          <p:nvPr/>
        </p:nvSpPr>
        <p:spPr>
          <a:xfrm>
            <a:off x="685800" y="498530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(PK)</a:t>
            </a:r>
            <a:endParaRPr lang="en-US" sz="900"/>
          </a:p>
        </p:txBody>
      </p:sp>
      <p:sp>
        <p:nvSpPr>
          <p:cNvPr id="41" name="Text 32"/>
          <p:cNvSpPr txBox="1"/>
          <p:nvPr/>
        </p:nvSpPr>
        <p:spPr>
          <a:xfrm>
            <a:off x="685800" y="5216652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slot_id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(FK)</a:t>
            </a:r>
            <a:endParaRPr lang="en-US" sz="900"/>
          </a:p>
        </p:txBody>
      </p:sp>
      <p:sp>
        <p:nvSpPr>
          <p:cNvPr id="42" name="Text 33"/>
          <p:cNvSpPr txBox="1"/>
          <p:nvPr/>
        </p:nvSpPr>
        <p:spPr>
          <a:xfrm>
            <a:off x="685800" y="5448910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plate_num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00"/>
          </a:p>
        </p:txBody>
      </p:sp>
      <p:sp>
        <p:nvSpPr>
          <p:cNvPr id="43" name="Text 34"/>
          <p:cNvSpPr txBox="1"/>
          <p:nvPr/>
        </p:nvSpPr>
        <p:spPr>
          <a:xfrm>
            <a:off x="685800" y="5680253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user_info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00"/>
          </a:p>
        </p:txBody>
      </p:sp>
      <p:sp>
        <p:nvSpPr>
          <p:cNvPr id="44" name="Text 35"/>
          <p:cNvSpPr txBox="1"/>
          <p:nvPr/>
        </p:nvSpPr>
        <p:spPr>
          <a:xfrm>
            <a:off x="685800" y="5911596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timespan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{start, end}</a:t>
            </a:r>
            <a:endParaRPr lang="en-US" sz="900"/>
          </a:p>
        </p:txBody>
      </p:sp>
      <p:sp>
        <p:nvSpPr>
          <p:cNvPr id="45" name="Text 36"/>
          <p:cNvSpPr txBox="1"/>
          <p:nvPr/>
        </p:nvSpPr>
        <p:spPr>
          <a:xfrm>
            <a:off x="685800" y="614293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endParaRPr lang="en-US" sz="900"/>
          </a:p>
        </p:txBody>
      </p:sp>
      <p:sp>
        <p:nvSpPr>
          <p:cNvPr id="46" name="Shape 37"/>
          <p:cNvSpPr/>
          <p:nvPr/>
        </p:nvSpPr>
        <p:spPr>
          <a:xfrm>
            <a:off x="4236415" y="4381805"/>
            <a:ext cx="3552444" cy="2171700"/>
          </a:xfrm>
          <a:prstGeom prst="roundRect">
            <a:avLst>
              <a:gd name="adj" fmla="val 1477"/>
            </a:avLst>
          </a:prstGeom>
          <a:solidFill>
            <a:srgbClr val="1E293B"/>
          </a:solidFill>
          <a:ln/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236415" y="4381805"/>
            <a:ext cx="38405" cy="2171700"/>
          </a:xfrm>
          <a:prstGeom prst="roundRect">
            <a:avLst>
              <a:gd name="adj" fmla="val 8354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465015" y="4867351"/>
            <a:ext cx="3133649" cy="9144"/>
          </a:xfrm>
          <a:prstGeom prst="rect">
            <a:avLst/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1"/>
          <a:srcRect t="-2222" b="-2222"/>
          <a:stretch/>
        </p:blipFill>
        <p:spPr>
          <a:xfrm>
            <a:off x="4465015" y="4573829"/>
            <a:ext cx="123444" cy="171907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4703674" y="4533595"/>
            <a:ext cx="11722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Logs</a:t>
            </a:r>
            <a:endParaRPr lang="en-US" sz="1300"/>
          </a:p>
        </p:txBody>
      </p:sp>
      <p:sp>
        <p:nvSpPr>
          <p:cNvPr id="51" name="Text 41"/>
          <p:cNvSpPr txBox="1"/>
          <p:nvPr/>
        </p:nvSpPr>
        <p:spPr>
          <a:xfrm>
            <a:off x="4465015" y="498530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(PK)</a:t>
            </a:r>
            <a:endParaRPr lang="en-US" sz="900"/>
          </a:p>
        </p:txBody>
      </p:sp>
      <p:sp>
        <p:nvSpPr>
          <p:cNvPr id="52" name="Text 42"/>
          <p:cNvSpPr txBox="1"/>
          <p:nvPr/>
        </p:nvSpPr>
        <p:spPr>
          <a:xfrm>
            <a:off x="4465015" y="5216652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900"/>
          </a:p>
        </p:txBody>
      </p:sp>
      <p:sp>
        <p:nvSpPr>
          <p:cNvPr id="53" name="Text 43"/>
          <p:cNvSpPr txBox="1"/>
          <p:nvPr/>
        </p:nvSpPr>
        <p:spPr>
          <a:xfrm>
            <a:off x="4465015" y="5448910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Enum(info/err)</a:t>
            </a:r>
            <a:endParaRPr lang="en-US" sz="900"/>
          </a:p>
        </p:txBody>
      </p:sp>
      <p:sp>
        <p:nvSpPr>
          <p:cNvPr id="54" name="Text 44"/>
          <p:cNvSpPr txBox="1"/>
          <p:nvPr/>
        </p:nvSpPr>
        <p:spPr>
          <a:xfrm>
            <a:off x="4465015" y="5680253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900"/>
          </a:p>
        </p:txBody>
      </p:sp>
      <p:sp>
        <p:nvSpPr>
          <p:cNvPr id="55" name="Text 45"/>
          <p:cNvSpPr txBox="1"/>
          <p:nvPr/>
        </p:nvSpPr>
        <p:spPr>
          <a:xfrm>
            <a:off x="4465015" y="5911596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900"/>
          </a:p>
        </p:txBody>
      </p:sp>
      <p:sp>
        <p:nvSpPr>
          <p:cNvPr id="56" name="Text 46"/>
          <p:cNvSpPr txBox="1"/>
          <p:nvPr/>
        </p:nvSpPr>
        <p:spPr>
          <a:xfrm>
            <a:off x="4465015" y="6142939"/>
            <a:ext cx="3248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00"/>
          </a:p>
        </p:txBody>
      </p:sp>
      <p:sp>
        <p:nvSpPr>
          <p:cNvPr id="57" name="Shape 47"/>
          <p:cNvSpPr/>
          <p:nvPr/>
        </p:nvSpPr>
        <p:spPr>
          <a:xfrm>
            <a:off x="8092440" y="1238098"/>
            <a:ext cx="3648456" cy="5315407"/>
          </a:xfrm>
          <a:prstGeom prst="roundRect">
            <a:avLst>
              <a:gd name="adj" fmla="val 78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8663940" y="1476756"/>
            <a:ext cx="29525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Relationships </a:t>
            </a:r>
            <a:endParaRPr lang="en-US" sz="150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2"/>
          <a:srcRect l="-1282" r="-1282"/>
          <a:stretch/>
        </p:blipFill>
        <p:spPr>
          <a:xfrm>
            <a:off x="8330184" y="1524305"/>
            <a:ext cx="219456" cy="190195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8330184" y="1990649"/>
            <a:ext cx="3172054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8492033" y="2152498"/>
            <a:ext cx="761695" cy="342900"/>
          </a:xfrm>
          <a:prstGeom prst="rect">
            <a:avLst/>
          </a:prstGeom>
          <a:noFill/>
          <a:ln/>
        </p:spPr>
      </p:sp>
      <p:sp>
        <p:nvSpPr>
          <p:cNvPr id="62" name="Text 51"/>
          <p:cNvSpPr/>
          <p:nvPr/>
        </p:nvSpPr>
        <p:spPr>
          <a:xfrm>
            <a:off x="8492033" y="2152498"/>
            <a:ext cx="762610" cy="342900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</a:t>
            </a:r>
            <a:endParaRPr lang="en-US" sz="1000"/>
          </a:p>
        </p:txBody>
      </p:sp>
      <p:sp>
        <p:nvSpPr>
          <p:cNvPr id="63" name="Shape 52"/>
          <p:cNvSpPr/>
          <p:nvPr/>
        </p:nvSpPr>
        <p:spPr>
          <a:xfrm>
            <a:off x="10573207" y="2152498"/>
            <a:ext cx="761695" cy="342900"/>
          </a:xfrm>
          <a:prstGeom prst="rect">
            <a:avLst/>
          </a:prstGeom>
          <a:noFill/>
          <a:ln/>
        </p:spPr>
      </p:sp>
      <p:sp>
        <p:nvSpPr>
          <p:cNvPr id="64" name="Text 53"/>
          <p:cNvSpPr/>
          <p:nvPr/>
        </p:nvSpPr>
        <p:spPr>
          <a:xfrm>
            <a:off x="10573207" y="2152498"/>
            <a:ext cx="762610" cy="34290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Slots</a:t>
            </a:r>
            <a:endParaRPr lang="en-US" sz="1000"/>
          </a:p>
        </p:txBody>
      </p:sp>
      <p:sp>
        <p:nvSpPr>
          <p:cNvPr id="65" name="Shape 54"/>
          <p:cNvSpPr/>
          <p:nvPr/>
        </p:nvSpPr>
        <p:spPr>
          <a:xfrm>
            <a:off x="8330184" y="2878531"/>
            <a:ext cx="3172054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8492033" y="3049524"/>
            <a:ext cx="828446" cy="323698"/>
          </a:xfrm>
          <a:prstGeom prst="rect">
            <a:avLst/>
          </a:prstGeom>
          <a:noFill/>
          <a:ln/>
        </p:spPr>
      </p:sp>
      <p:sp>
        <p:nvSpPr>
          <p:cNvPr id="67" name="Text 56"/>
          <p:cNvSpPr/>
          <p:nvPr/>
        </p:nvSpPr>
        <p:spPr>
          <a:xfrm>
            <a:off x="8492033" y="3049524"/>
            <a:ext cx="829361" cy="324612"/>
          </a:xfrm>
          <a:prstGeom prst="rect">
            <a:avLst/>
          </a:prstGeom>
          <a:solidFill>
            <a:srgbClr val="475569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</a:t>
            </a:r>
            <a:endParaRPr lang="en-US" sz="1000"/>
          </a:p>
        </p:txBody>
      </p:sp>
      <p:sp>
        <p:nvSpPr>
          <p:cNvPr id="68" name="Shape 57"/>
          <p:cNvSpPr/>
          <p:nvPr/>
        </p:nvSpPr>
        <p:spPr>
          <a:xfrm>
            <a:off x="10573207" y="3040380"/>
            <a:ext cx="761695" cy="342900"/>
          </a:xfrm>
          <a:prstGeom prst="rect">
            <a:avLst/>
          </a:prstGeom>
          <a:noFill/>
          <a:ln/>
        </p:spPr>
      </p:sp>
      <p:sp>
        <p:nvSpPr>
          <p:cNvPr id="69" name="Text 58"/>
          <p:cNvSpPr/>
          <p:nvPr/>
        </p:nvSpPr>
        <p:spPr>
          <a:xfrm>
            <a:off x="10573207" y="3040380"/>
            <a:ext cx="762610" cy="34290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Locks</a:t>
            </a:r>
            <a:endParaRPr lang="en-US" sz="1000"/>
          </a:p>
        </p:txBody>
      </p:sp>
      <p:sp>
        <p:nvSpPr>
          <p:cNvPr id="70" name="Shape 59"/>
          <p:cNvSpPr/>
          <p:nvPr/>
        </p:nvSpPr>
        <p:spPr>
          <a:xfrm>
            <a:off x="8330184" y="3765499"/>
            <a:ext cx="3172054" cy="666598"/>
          </a:xfrm>
          <a:prstGeom prst="roundRect">
            <a:avLst>
              <a:gd name="adj" fmla="val 1567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8492033" y="3928262"/>
            <a:ext cx="761695" cy="342900"/>
          </a:xfrm>
          <a:prstGeom prst="rect">
            <a:avLst/>
          </a:prstGeom>
          <a:noFill/>
          <a:ln/>
        </p:spPr>
      </p:sp>
      <p:sp>
        <p:nvSpPr>
          <p:cNvPr id="72" name="Text 61"/>
          <p:cNvSpPr/>
          <p:nvPr/>
        </p:nvSpPr>
        <p:spPr>
          <a:xfrm>
            <a:off x="8492033" y="3928262"/>
            <a:ext cx="762610" cy="34290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Slot</a:t>
            </a:r>
            <a:endParaRPr lang="en-US" sz="1000"/>
          </a:p>
        </p:txBody>
      </p:sp>
      <p:sp>
        <p:nvSpPr>
          <p:cNvPr id="73" name="Shape 62"/>
          <p:cNvSpPr/>
          <p:nvPr/>
        </p:nvSpPr>
        <p:spPr>
          <a:xfrm>
            <a:off x="10375697" y="3928262"/>
            <a:ext cx="961949" cy="342900"/>
          </a:xfrm>
          <a:prstGeom prst="rect">
            <a:avLst/>
          </a:prstGeom>
          <a:noFill/>
          <a:ln/>
        </p:spPr>
      </p:sp>
      <p:sp>
        <p:nvSpPr>
          <p:cNvPr id="74" name="Text 63"/>
          <p:cNvSpPr/>
          <p:nvPr/>
        </p:nvSpPr>
        <p:spPr>
          <a:xfrm>
            <a:off x="10375697" y="3928262"/>
            <a:ext cx="962863" cy="342900"/>
          </a:xfrm>
          <a:prstGeom prst="rect">
            <a:avLst/>
          </a:prstGeom>
          <a:solidFill>
            <a:srgbClr val="F472B6">
              <a:alpha val="20000"/>
            </a:srgbClr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 Res</a:t>
            </a:r>
            <a:endParaRPr lang="en-US" sz="1000"/>
          </a:p>
        </p:txBody>
      </p:sp>
      <p:sp>
        <p:nvSpPr>
          <p:cNvPr id="75" name="Shape 64"/>
          <p:cNvSpPr/>
          <p:nvPr/>
        </p:nvSpPr>
        <p:spPr>
          <a:xfrm>
            <a:off x="8330184" y="4653382"/>
            <a:ext cx="3172054" cy="705002"/>
          </a:xfrm>
          <a:prstGeom prst="roundRect">
            <a:avLst>
              <a:gd name="adj" fmla="val 1402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6" name="Text 65"/>
          <p:cNvSpPr txBox="1"/>
          <p:nvPr/>
        </p:nvSpPr>
        <p:spPr>
          <a:xfrm>
            <a:off x="8736178" y="4815230"/>
            <a:ext cx="26801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Status changes trigger automatic cascades (e.g., Expiration → Slot Release) </a:t>
            </a:r>
            <a:endParaRPr lang="en-US" sz="1000"/>
          </a:p>
        </p:txBody>
      </p:sp>
      <p:pic>
        <p:nvPicPr>
          <p:cNvPr id="77" name="Image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492033" y="4841748"/>
            <a:ext cx="133502" cy="133502"/>
          </a:xfrm>
          <a:prstGeom prst="rect">
            <a:avLst/>
          </a:prstGeom>
        </p:spPr>
      </p:pic>
      <p:sp>
        <p:nvSpPr>
          <p:cNvPr id="78" name="Text 66"/>
          <p:cNvSpPr txBox="1"/>
          <p:nvPr/>
        </p:nvSpPr>
        <p:spPr>
          <a:xfrm>
            <a:off x="9482328" y="2211934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2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One-to-Many</a:t>
            </a:r>
            <a:endParaRPr lang="en-US" sz="800"/>
          </a:p>
        </p:txBody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4"/>
          <a:srcRect t="-403" b="-403"/>
          <a:stretch/>
        </p:blipFill>
        <p:spPr>
          <a:xfrm>
            <a:off x="9330538" y="2409444"/>
            <a:ext cx="1165860" cy="19202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9512503" y="3098902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2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One-to-Many</a:t>
            </a:r>
            <a:endParaRPr lang="en-US" sz="800"/>
          </a:p>
        </p:txBody>
      </p:sp>
      <p:pic>
        <p:nvPicPr>
          <p:cNvPr id="81" name="Image 11" descr="preencoded.png"/>
          <p:cNvPicPr>
            <a:picLocks noChangeAspect="1"/>
          </p:cNvPicPr>
          <p:nvPr/>
        </p:nvPicPr>
        <p:blipFill>
          <a:blip r:embed="rId15"/>
          <a:srcRect t="-413" b="-413"/>
          <a:stretch/>
        </p:blipFill>
        <p:spPr>
          <a:xfrm>
            <a:off x="9390888" y="3297326"/>
            <a:ext cx="1105510" cy="19202"/>
          </a:xfrm>
          <a:prstGeom prst="rect">
            <a:avLst/>
          </a:prstGeom>
        </p:spPr>
      </p:pic>
      <p:sp>
        <p:nvSpPr>
          <p:cNvPr id="82" name="Text 68"/>
          <p:cNvSpPr txBox="1"/>
          <p:nvPr/>
        </p:nvSpPr>
        <p:spPr>
          <a:xfrm>
            <a:off x="9427464" y="3986784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42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One-to-One</a:t>
            </a:r>
            <a:endParaRPr lang="en-US" sz="800"/>
          </a:p>
        </p:txBody>
      </p:sp>
      <p:pic>
        <p:nvPicPr>
          <p:cNvPr id="83" name="Image 12" descr="preencoded.png"/>
          <p:cNvPicPr>
            <a:picLocks noChangeAspect="1"/>
          </p:cNvPicPr>
          <p:nvPr/>
        </p:nvPicPr>
        <p:blipFill>
          <a:blip r:embed="rId16"/>
          <a:srcRect t="-395" b="-395"/>
          <a:stretch/>
        </p:blipFill>
        <p:spPr>
          <a:xfrm>
            <a:off x="9330538" y="4185209"/>
            <a:ext cx="969264" cy="192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4533595"/>
            <a:ext cx="2812012" cy="234136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75995" y="228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Flow </a:t>
            </a:r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457200" y="304495"/>
            <a:ext cx="267005" cy="304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457200" y="1162202"/>
            <a:ext cx="11277295" cy="2038198"/>
          </a:xfrm>
          <a:prstGeom prst="roundRect">
            <a:avLst>
              <a:gd name="adj" fmla="val 251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" y="1399946"/>
            <a:ext cx="10696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Real-time Pipeline </a:t>
            </a:r>
            <a:endParaRPr lang="en-US" sz="12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rcRect l="-3379" r="-3379"/>
          <a:stretch/>
        </p:blipFill>
        <p:spPr>
          <a:xfrm>
            <a:off x="694944" y="1438351"/>
            <a:ext cx="142646" cy="15270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3425342"/>
            <a:ext cx="3610051" cy="3402411"/>
          </a:xfrm>
          <a:prstGeom prst="roundRect">
            <a:avLst>
              <a:gd name="adj" fmla="val 543"/>
            </a:avLst>
          </a:prstGeom>
          <a:solidFill>
            <a:srgbClr val="1E293B"/>
          </a:solidFill>
          <a:ln/>
        </p:spPr>
      </p:sp>
      <p:sp>
        <p:nvSpPr>
          <p:cNvPr id="15" name="Shape 9"/>
          <p:cNvSpPr/>
          <p:nvPr/>
        </p:nvSpPr>
        <p:spPr>
          <a:xfrm>
            <a:off x="457200" y="3425342"/>
            <a:ext cx="38405" cy="3402411"/>
          </a:xfrm>
          <a:prstGeom prst="roundRect">
            <a:avLst>
              <a:gd name="adj" fmla="val 50658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85800" y="3949294"/>
            <a:ext cx="31912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85800" y="3664915"/>
            <a:ext cx="190195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90295" y="3615538"/>
            <a:ext cx="1162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MQTT Topics</a:t>
            </a:r>
            <a:endParaRPr lang="en-US" sz="1300"/>
          </a:p>
        </p:txBody>
      </p:sp>
      <p:sp>
        <p:nvSpPr>
          <p:cNvPr id="19" name="Text 12"/>
          <p:cNvSpPr txBox="1"/>
          <p:nvPr/>
        </p:nvSpPr>
        <p:spPr>
          <a:xfrm>
            <a:off x="685800" y="4105656"/>
            <a:ext cx="3305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Structure: /{gateway_id}/{type}</a:t>
            </a:r>
            <a:endParaRPr lang="en-US" sz="900"/>
          </a:p>
        </p:txBody>
      </p:sp>
      <p:sp>
        <p:nvSpPr>
          <p:cNvPr id="20" name="Text 13"/>
          <p:cNvSpPr txBox="1"/>
          <p:nvPr/>
        </p:nvSpPr>
        <p:spPr>
          <a:xfrm>
            <a:off x="685800" y="4353458"/>
            <a:ext cx="886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.../up_link</a:t>
            </a:r>
            <a:endParaRPr lang="en-US" sz="900"/>
          </a:p>
        </p:txBody>
      </p:sp>
      <p:sp>
        <p:nvSpPr>
          <p:cNvPr id="21" name="Text 14"/>
          <p:cNvSpPr txBox="1"/>
          <p:nvPr/>
        </p:nvSpPr>
        <p:spPr>
          <a:xfrm>
            <a:off x="3141878" y="4353458"/>
            <a:ext cx="810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Upd</a:t>
            </a:r>
            <a:endParaRPr lang="en-US" sz="900"/>
          </a:p>
        </p:txBody>
      </p:sp>
      <p:sp>
        <p:nvSpPr>
          <p:cNvPr id="22" name="Text 15"/>
          <p:cNvSpPr txBox="1"/>
          <p:nvPr/>
        </p:nvSpPr>
        <p:spPr>
          <a:xfrm>
            <a:off x="685800" y="4612234"/>
            <a:ext cx="1028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.../down_link</a:t>
            </a:r>
            <a:endParaRPr lang="en-US" sz="900"/>
          </a:p>
        </p:txBody>
      </p:sp>
      <p:sp>
        <p:nvSpPr>
          <p:cNvPr id="23" name="Text 16"/>
          <p:cNvSpPr txBox="1"/>
          <p:nvPr/>
        </p:nvSpPr>
        <p:spPr>
          <a:xfrm>
            <a:off x="3288182" y="4612234"/>
            <a:ext cx="667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</a:t>
            </a:r>
            <a:endParaRPr lang="en-US" sz="900"/>
          </a:p>
        </p:txBody>
      </p:sp>
      <p:sp>
        <p:nvSpPr>
          <p:cNvPr id="24" name="Text 17"/>
          <p:cNvSpPr txBox="1"/>
          <p:nvPr/>
        </p:nvSpPr>
        <p:spPr>
          <a:xfrm>
            <a:off x="685800" y="4871009"/>
            <a:ext cx="1324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.../down_link_ack</a:t>
            </a:r>
            <a:endParaRPr lang="en-US" sz="900"/>
          </a:p>
        </p:txBody>
      </p:sp>
      <p:sp>
        <p:nvSpPr>
          <p:cNvPr id="25" name="Text 18"/>
          <p:cNvSpPr txBox="1"/>
          <p:nvPr/>
        </p:nvSpPr>
        <p:spPr>
          <a:xfrm>
            <a:off x="3361334" y="4871009"/>
            <a:ext cx="590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</a:t>
            </a:r>
            <a:endParaRPr lang="en-US" sz="900"/>
          </a:p>
        </p:txBody>
      </p:sp>
      <p:sp>
        <p:nvSpPr>
          <p:cNvPr id="26" name="Text 19"/>
          <p:cNvSpPr txBox="1"/>
          <p:nvPr/>
        </p:nvSpPr>
        <p:spPr>
          <a:xfrm>
            <a:off x="685800" y="5130698"/>
            <a:ext cx="1028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.../heartbeat</a:t>
            </a:r>
            <a:endParaRPr lang="en-US" sz="900"/>
          </a:p>
        </p:txBody>
      </p:sp>
      <p:sp>
        <p:nvSpPr>
          <p:cNvPr id="27" name="Text 20"/>
          <p:cNvSpPr txBox="1"/>
          <p:nvPr/>
        </p:nvSpPr>
        <p:spPr>
          <a:xfrm>
            <a:off x="3434486" y="5130698"/>
            <a:ext cx="523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900"/>
          </a:p>
        </p:txBody>
      </p:sp>
      <p:sp>
        <p:nvSpPr>
          <p:cNvPr id="28" name="Shape 21"/>
          <p:cNvSpPr/>
          <p:nvPr/>
        </p:nvSpPr>
        <p:spPr>
          <a:xfrm>
            <a:off x="685800" y="5465369"/>
            <a:ext cx="31912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85800" y="5764378"/>
            <a:ext cx="3305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deviceId, timestamp, sensors... }</a:t>
            </a:r>
            <a:endParaRPr lang="en-US" sz="800"/>
          </a:p>
        </p:txBody>
      </p:sp>
      <p:sp>
        <p:nvSpPr>
          <p:cNvPr id="30" name="Shape 23"/>
          <p:cNvSpPr/>
          <p:nvPr/>
        </p:nvSpPr>
        <p:spPr>
          <a:xfrm>
            <a:off x="4292194" y="3425342"/>
            <a:ext cx="3610051" cy="3402411"/>
          </a:xfrm>
          <a:prstGeom prst="roundRect">
            <a:avLst>
              <a:gd name="adj" fmla="val 543"/>
            </a:avLst>
          </a:prstGeom>
          <a:solidFill>
            <a:srgbClr val="1E293B"/>
          </a:solidFill>
          <a:ln/>
        </p:spPr>
      </p:sp>
      <p:sp>
        <p:nvSpPr>
          <p:cNvPr id="31" name="Shape 24"/>
          <p:cNvSpPr/>
          <p:nvPr/>
        </p:nvSpPr>
        <p:spPr>
          <a:xfrm>
            <a:off x="4292194" y="3425342"/>
            <a:ext cx="38405" cy="3402411"/>
          </a:xfrm>
          <a:prstGeom prst="roundRect">
            <a:avLst>
              <a:gd name="adj" fmla="val 50658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520794" y="3949294"/>
            <a:ext cx="31912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20794" y="3664915"/>
            <a:ext cx="152705" cy="15270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787798" y="3615538"/>
            <a:ext cx="19019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Reservation Lifecycle</a:t>
            </a:r>
            <a:endParaRPr lang="en-US" sz="1300"/>
          </a:p>
        </p:txBody>
      </p:sp>
      <p:sp>
        <p:nvSpPr>
          <p:cNvPr id="35" name="Shape 27"/>
          <p:cNvSpPr/>
          <p:nvPr/>
        </p:nvSpPr>
        <p:spPr>
          <a:xfrm>
            <a:off x="8128102" y="3425342"/>
            <a:ext cx="3610051" cy="3402411"/>
          </a:xfrm>
          <a:prstGeom prst="roundRect">
            <a:avLst>
              <a:gd name="adj" fmla="val 543"/>
            </a:avLst>
          </a:prstGeom>
          <a:solidFill>
            <a:srgbClr val="1E293B"/>
          </a:solidFill>
          <a:ln/>
        </p:spPr>
      </p:sp>
      <p:sp>
        <p:nvSpPr>
          <p:cNvPr id="36" name="Shape 28"/>
          <p:cNvSpPr/>
          <p:nvPr/>
        </p:nvSpPr>
        <p:spPr>
          <a:xfrm>
            <a:off x="8128102" y="3425342"/>
            <a:ext cx="38405" cy="3402411"/>
          </a:xfrm>
          <a:prstGeom prst="roundRect">
            <a:avLst>
              <a:gd name="adj" fmla="val 50658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356702" y="3949294"/>
            <a:ext cx="31912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8356702" y="3664915"/>
            <a:ext cx="190195" cy="15270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661197" y="3615538"/>
            <a:ext cx="1209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Logic</a:t>
            </a:r>
            <a:endParaRPr lang="en-US" sz="1300"/>
          </a:p>
        </p:txBody>
      </p:sp>
      <p:sp>
        <p:nvSpPr>
          <p:cNvPr id="40" name="Shape 31"/>
          <p:cNvSpPr/>
          <p:nvPr/>
        </p:nvSpPr>
        <p:spPr>
          <a:xfrm>
            <a:off x="8356702" y="4105656"/>
            <a:ext cx="3191256" cy="828446"/>
          </a:xfrm>
          <a:prstGeom prst="roundRect">
            <a:avLst>
              <a:gd name="adj" fmla="val 507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8471002" y="4219956"/>
            <a:ext cx="3076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Server-side Check (30s)</a:t>
            </a:r>
            <a:endParaRPr lang="en-US" sz="1000"/>
          </a:p>
        </p:txBody>
      </p:sp>
      <p:sp>
        <p:nvSpPr>
          <p:cNvPr id="42" name="Text 33"/>
          <p:cNvSpPr txBox="1"/>
          <p:nvPr/>
        </p:nvSpPr>
        <p:spPr>
          <a:xfrm>
            <a:off x="8471002" y="4452214"/>
            <a:ext cx="30385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Scans active reservations. If </a:t>
            </a:r>
            <a:r>
              <a:rPr lang="en-US" sz="90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&gt; endTime</a:t>
            </a:r>
            <a:r>
              <a:rPr lang="en-US" sz="8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mark expired &amp; release slot. </a:t>
            </a:r>
            <a:endParaRPr lang="en-US" sz="900"/>
          </a:p>
        </p:txBody>
      </p:sp>
      <p:sp>
        <p:nvSpPr>
          <p:cNvPr id="43" name="Shape 34"/>
          <p:cNvSpPr/>
          <p:nvPr/>
        </p:nvSpPr>
        <p:spPr>
          <a:xfrm>
            <a:off x="8356702" y="5046574"/>
            <a:ext cx="3191256" cy="828446"/>
          </a:xfrm>
          <a:prstGeom prst="roundRect">
            <a:avLst>
              <a:gd name="adj" fmla="val 507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471002" y="5160874"/>
            <a:ext cx="3076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Device Self-Check (10s)</a:t>
            </a:r>
            <a:endParaRPr lang="en-US" sz="1000"/>
          </a:p>
        </p:txBody>
      </p:sp>
      <p:sp>
        <p:nvSpPr>
          <p:cNvPr id="45" name="Text 36"/>
          <p:cNvSpPr txBox="1"/>
          <p:nvPr/>
        </p:nvSpPr>
        <p:spPr>
          <a:xfrm>
            <a:off x="8471002" y="5393131"/>
            <a:ext cx="30385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Lock verifies reservation validity locally. Auto-release if connection lost/timeout.</a:t>
            </a:r>
            <a:endParaRPr lang="en-US" sz="900"/>
          </a:p>
        </p:txBody>
      </p:sp>
      <p:sp>
        <p:nvSpPr>
          <p:cNvPr id="46" name="Shape 37"/>
          <p:cNvSpPr/>
          <p:nvPr/>
        </p:nvSpPr>
        <p:spPr>
          <a:xfrm>
            <a:off x="8356702" y="5987491"/>
            <a:ext cx="3191256" cy="828446"/>
          </a:xfrm>
          <a:prstGeom prst="roundRect">
            <a:avLst>
              <a:gd name="adj" fmla="val 507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8471002" y="6101791"/>
            <a:ext cx="3076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Bidirectional Flow</a:t>
            </a:r>
            <a:endParaRPr lang="en-US" sz="1000"/>
          </a:p>
        </p:txBody>
      </p:sp>
      <p:sp>
        <p:nvSpPr>
          <p:cNvPr id="48" name="Text 39"/>
          <p:cNvSpPr txBox="1"/>
          <p:nvPr/>
        </p:nvSpPr>
        <p:spPr>
          <a:xfrm>
            <a:off x="8636508" y="6334963"/>
            <a:ext cx="287304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Commands (Server → Gateway)</a:t>
            </a:r>
            <a:endParaRPr lang="en-US" sz="900"/>
          </a:p>
          <a:p>
            <a:pPr marL="0" indent="0" algn="l">
              <a:buNone/>
            </a:pPr>
            <a:r>
              <a:rPr lang="en-US" sz="8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Status (Gateway → Server) </a:t>
            </a:r>
            <a:endParaRPr lang="en-US" sz="90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1"/>
          <a:srcRect l="-1358" r="-1358"/>
          <a:stretch/>
        </p:blipFill>
        <p:spPr>
          <a:xfrm>
            <a:off x="685800" y="5576011"/>
            <a:ext cx="95098" cy="12344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819302" y="5561381"/>
            <a:ext cx="9628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Payload</a:t>
            </a:r>
            <a:endParaRPr lang="en-US" sz="90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2"/>
          <a:srcRect l="-1358" r="-1358"/>
          <a:stretch/>
        </p:blipFill>
        <p:spPr>
          <a:xfrm>
            <a:off x="8471002" y="6359652"/>
            <a:ext cx="95098" cy="123444"/>
          </a:xfrm>
          <a:prstGeom prst="rect">
            <a:avLst/>
          </a:prstGeom>
        </p:spPr>
      </p:pic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3"/>
          <a:srcRect l="-1358" r="-1358"/>
          <a:stretch/>
        </p:blipFill>
        <p:spPr>
          <a:xfrm>
            <a:off x="8471002" y="6542532"/>
            <a:ext cx="95098" cy="123444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2143354" y="2159813"/>
            <a:ext cx="167609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2143354" y="1922069"/>
            <a:ext cx="1676095" cy="200254"/>
          </a:xfrm>
          <a:prstGeom prst="rect">
            <a:avLst/>
          </a:prstGeom>
          <a:noFill/>
          <a:ln/>
        </p:spPr>
      </p:sp>
      <p:sp>
        <p:nvSpPr>
          <p:cNvPr id="55" name="Text 43"/>
          <p:cNvSpPr/>
          <p:nvPr/>
        </p:nvSpPr>
        <p:spPr>
          <a:xfrm>
            <a:off x="2143354" y="1922069"/>
            <a:ext cx="1677010" cy="200254"/>
          </a:xfrm>
          <a:prstGeom prst="rect">
            <a:avLst/>
          </a:prstGeom>
          <a:solidFill>
            <a:srgbClr val="0F17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 (TCP)</a:t>
            </a:r>
            <a:endParaRPr lang="en-US" sz="800"/>
          </a:p>
        </p:txBody>
      </p:sp>
      <p:sp>
        <p:nvSpPr>
          <p:cNvPr id="56" name="Shape 44"/>
          <p:cNvSpPr/>
          <p:nvPr/>
        </p:nvSpPr>
        <p:spPr>
          <a:xfrm>
            <a:off x="5260543" y="2159813"/>
            <a:ext cx="167609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5"/>
          <p:cNvSpPr/>
          <p:nvPr/>
        </p:nvSpPr>
        <p:spPr>
          <a:xfrm>
            <a:off x="5260543" y="1922069"/>
            <a:ext cx="1676095" cy="200254"/>
          </a:xfrm>
          <a:prstGeom prst="rect">
            <a:avLst/>
          </a:prstGeom>
          <a:noFill/>
          <a:ln/>
        </p:spPr>
      </p:sp>
      <p:sp>
        <p:nvSpPr>
          <p:cNvPr id="58" name="Text 46"/>
          <p:cNvSpPr/>
          <p:nvPr/>
        </p:nvSpPr>
        <p:spPr>
          <a:xfrm>
            <a:off x="5260543" y="1922069"/>
            <a:ext cx="1677010" cy="200254"/>
          </a:xfrm>
          <a:prstGeom prst="rect">
            <a:avLst/>
          </a:prstGeom>
          <a:solidFill>
            <a:srgbClr val="0F17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/ Pub</a:t>
            </a:r>
            <a:endParaRPr lang="en-US" sz="800"/>
          </a:p>
        </p:txBody>
      </p:sp>
      <p:sp>
        <p:nvSpPr>
          <p:cNvPr id="59" name="Shape 47"/>
          <p:cNvSpPr/>
          <p:nvPr/>
        </p:nvSpPr>
        <p:spPr>
          <a:xfrm>
            <a:off x="8378647" y="2159813"/>
            <a:ext cx="167609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8378647" y="1922069"/>
            <a:ext cx="1676095" cy="200254"/>
          </a:xfrm>
          <a:prstGeom prst="rect">
            <a:avLst/>
          </a:prstGeom>
          <a:noFill/>
          <a:ln/>
        </p:spPr>
      </p:sp>
      <p:sp>
        <p:nvSpPr>
          <p:cNvPr id="61" name="Text 49"/>
          <p:cNvSpPr/>
          <p:nvPr/>
        </p:nvSpPr>
        <p:spPr>
          <a:xfrm>
            <a:off x="8378647" y="1922069"/>
            <a:ext cx="1677010" cy="200254"/>
          </a:xfrm>
          <a:prstGeom prst="rect">
            <a:avLst/>
          </a:prstGeom>
          <a:solidFill>
            <a:srgbClr val="0F17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</a:t>
            </a:r>
            <a:endParaRPr lang="en-US" sz="800"/>
          </a:p>
        </p:txBody>
      </p:sp>
      <p:sp>
        <p:nvSpPr>
          <p:cNvPr id="62" name="Shape 50"/>
          <p:cNvSpPr/>
          <p:nvPr/>
        </p:nvSpPr>
        <p:spPr>
          <a:xfrm>
            <a:off x="4587545" y="4153205"/>
            <a:ext cx="19202" cy="1870862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1"/>
          <p:cNvSpPr txBox="1"/>
          <p:nvPr/>
        </p:nvSpPr>
        <p:spPr>
          <a:xfrm>
            <a:off x="4749394" y="4105656"/>
            <a:ext cx="3076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Reserve: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 books slot via App/Web </a:t>
            </a:r>
            <a:endParaRPr lang="en-US" sz="1000"/>
          </a:p>
        </p:txBody>
      </p:sp>
      <p:sp>
        <p:nvSpPr>
          <p:cNvPr id="64" name="Shape 52"/>
          <p:cNvSpPr/>
          <p:nvPr/>
        </p:nvSpPr>
        <p:spPr>
          <a:xfrm>
            <a:off x="4520794" y="4162349"/>
            <a:ext cx="75895" cy="75895"/>
          </a:xfrm>
          <a:prstGeom prst="ellipse">
            <a:avLst/>
          </a:prstGeom>
          <a:solidFill>
            <a:srgbClr val="F472B6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4749394" y="4433011"/>
            <a:ext cx="3076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Command: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Server publishes 'reserve' </a:t>
            </a:r>
            <a:endParaRPr lang="en-US" sz="1000"/>
          </a:p>
        </p:txBody>
      </p:sp>
      <p:sp>
        <p:nvSpPr>
          <p:cNvPr id="66" name="Shape 54"/>
          <p:cNvSpPr/>
          <p:nvPr/>
        </p:nvSpPr>
        <p:spPr>
          <a:xfrm>
            <a:off x="4520794" y="4490618"/>
            <a:ext cx="75895" cy="75895"/>
          </a:xfrm>
          <a:prstGeom prst="ellipse">
            <a:avLst/>
          </a:prstGeom>
          <a:solidFill>
            <a:srgbClr val="F472B6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4749394" y="4761281"/>
            <a:ext cx="3076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Actuate: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Gateway raises Lock Arm ⬆️ </a:t>
            </a:r>
            <a:endParaRPr lang="en-US" sz="1000"/>
          </a:p>
        </p:txBody>
      </p:sp>
      <p:sp>
        <p:nvSpPr>
          <p:cNvPr id="68" name="Shape 56"/>
          <p:cNvSpPr/>
          <p:nvPr/>
        </p:nvSpPr>
        <p:spPr>
          <a:xfrm>
            <a:off x="4520794" y="4817974"/>
            <a:ext cx="75895" cy="75895"/>
          </a:xfrm>
          <a:prstGeom prst="ellipse">
            <a:avLst/>
          </a:prstGeom>
          <a:solidFill>
            <a:srgbClr val="F472B6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69" name="Text 57"/>
          <p:cNvSpPr txBox="1"/>
          <p:nvPr/>
        </p:nvSpPr>
        <p:spPr>
          <a:xfrm>
            <a:off x="4749394" y="5088636"/>
            <a:ext cx="3076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Arrival: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 arrives, Arm lowers ⬇️ </a:t>
            </a:r>
            <a:endParaRPr lang="en-US" sz="1000"/>
          </a:p>
        </p:txBody>
      </p:sp>
      <p:sp>
        <p:nvSpPr>
          <p:cNvPr id="70" name="Shape 58"/>
          <p:cNvSpPr/>
          <p:nvPr/>
        </p:nvSpPr>
        <p:spPr>
          <a:xfrm>
            <a:off x="4520794" y="5145329"/>
            <a:ext cx="75895" cy="75895"/>
          </a:xfrm>
          <a:prstGeom prst="ellipse">
            <a:avLst/>
          </a:prstGeom>
          <a:solidFill>
            <a:srgbClr val="F472B6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4749394" y="5415991"/>
            <a:ext cx="3076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Detect: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Magnetic sensor sees vehicle </a:t>
            </a:r>
            <a:endParaRPr lang="en-US" sz="1000"/>
          </a:p>
        </p:txBody>
      </p:sp>
      <p:sp>
        <p:nvSpPr>
          <p:cNvPr id="72" name="Shape 60"/>
          <p:cNvSpPr/>
          <p:nvPr/>
        </p:nvSpPr>
        <p:spPr>
          <a:xfrm>
            <a:off x="4520794" y="5473598"/>
            <a:ext cx="75895" cy="75895"/>
          </a:xfrm>
          <a:prstGeom prst="ellipse">
            <a:avLst/>
          </a:prstGeom>
          <a:solidFill>
            <a:srgbClr val="F472B6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73" name="Text 61"/>
          <p:cNvSpPr txBox="1"/>
          <p:nvPr/>
        </p:nvSpPr>
        <p:spPr>
          <a:xfrm>
            <a:off x="4749394" y="5744261"/>
            <a:ext cx="30769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Update: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Status: </a:t>
            </a:r>
            <a:r>
              <a:rPr lang="en-US" sz="100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Occupied</a:t>
            </a:r>
            <a:endParaRPr lang="en-US" sz="1000"/>
          </a:p>
        </p:txBody>
      </p:sp>
      <p:sp>
        <p:nvSpPr>
          <p:cNvPr id="74" name="Shape 62"/>
          <p:cNvSpPr/>
          <p:nvPr/>
        </p:nvSpPr>
        <p:spPr>
          <a:xfrm>
            <a:off x="4520794" y="5800954"/>
            <a:ext cx="75895" cy="75895"/>
          </a:xfrm>
          <a:prstGeom prst="ellipse">
            <a:avLst/>
          </a:prstGeom>
          <a:solidFill>
            <a:srgbClr val="F472B6"/>
          </a:solidFill>
          <a:ln w="25400">
            <a:solidFill>
              <a:srgbClr val="1E293B"/>
            </a:solidFill>
            <a:prstDash val="solid"/>
          </a:ln>
        </p:spPr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133856" y="1857146"/>
            <a:ext cx="571500" cy="571500"/>
          </a:xfrm>
          <a:prstGeom prst="rect">
            <a:avLst/>
          </a:prstGeom>
        </p:spPr>
      </p:pic>
      <p:pic>
        <p:nvPicPr>
          <p:cNvPr id="77" name="Image 1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304849" y="2029054"/>
            <a:ext cx="228600" cy="228600"/>
          </a:xfrm>
          <a:prstGeom prst="rect">
            <a:avLst/>
          </a:prstGeom>
        </p:spPr>
      </p:pic>
      <p:sp>
        <p:nvSpPr>
          <p:cNvPr id="78" name="Text 64"/>
          <p:cNvSpPr txBox="1"/>
          <p:nvPr/>
        </p:nvSpPr>
        <p:spPr>
          <a:xfrm>
            <a:off x="1075334" y="2542946"/>
            <a:ext cx="6958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</a:t>
            </a:r>
            <a:endParaRPr lang="en-US" sz="1000"/>
          </a:p>
        </p:txBody>
      </p:sp>
      <p:sp>
        <p:nvSpPr>
          <p:cNvPr id="79" name="Text 65"/>
          <p:cNvSpPr txBox="1"/>
          <p:nvPr/>
        </p:nvSpPr>
        <p:spPr>
          <a:xfrm>
            <a:off x="894283" y="2787091"/>
            <a:ext cx="105430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Publishes State</a:t>
            </a:r>
            <a:endParaRPr lang="en-US" sz="900"/>
          </a:p>
        </p:txBody>
      </p:sp>
      <p:pic>
        <p:nvPicPr>
          <p:cNvPr id="80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251046" y="1857146"/>
            <a:ext cx="571500" cy="571500"/>
          </a:xfrm>
          <a:prstGeom prst="rect">
            <a:avLst/>
          </a:prstGeom>
        </p:spPr>
      </p:pic>
      <p:pic>
        <p:nvPicPr>
          <p:cNvPr id="81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422953" y="2029054"/>
            <a:ext cx="228600" cy="228600"/>
          </a:xfrm>
          <a:prstGeom prst="rect">
            <a:avLst/>
          </a:prstGeom>
        </p:spPr>
      </p:pic>
      <p:sp>
        <p:nvSpPr>
          <p:cNvPr id="82" name="Text 66"/>
          <p:cNvSpPr txBox="1"/>
          <p:nvPr/>
        </p:nvSpPr>
        <p:spPr>
          <a:xfrm>
            <a:off x="4261104" y="2542946"/>
            <a:ext cx="5532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Broker</a:t>
            </a:r>
            <a:endParaRPr lang="en-US" sz="1000"/>
          </a:p>
        </p:txBody>
      </p:sp>
      <p:sp>
        <p:nvSpPr>
          <p:cNvPr id="83" name="Text 67"/>
          <p:cNvSpPr txBox="1"/>
          <p:nvPr/>
        </p:nvSpPr>
        <p:spPr>
          <a:xfrm>
            <a:off x="4162349" y="2787091"/>
            <a:ext cx="752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Routes Msg</a:t>
            </a:r>
            <a:endParaRPr lang="en-US" sz="900"/>
          </a:p>
        </p:txBody>
      </p:sp>
      <p:pic>
        <p:nvPicPr>
          <p:cNvPr id="84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369150" y="1857146"/>
            <a:ext cx="571500" cy="571500"/>
          </a:xfrm>
          <a:prstGeom prst="rect">
            <a:avLst/>
          </a:prstGeom>
        </p:spPr>
      </p:pic>
      <p:pic>
        <p:nvPicPr>
          <p:cNvPr id="85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541057" y="2029054"/>
            <a:ext cx="228600" cy="228600"/>
          </a:xfrm>
          <a:prstGeom prst="rect">
            <a:avLst/>
          </a:prstGeom>
        </p:spPr>
      </p:pic>
      <p:sp>
        <p:nvSpPr>
          <p:cNvPr id="86" name="Text 68"/>
          <p:cNvSpPr txBox="1"/>
          <p:nvPr/>
        </p:nvSpPr>
        <p:spPr>
          <a:xfrm>
            <a:off x="7208215" y="2542946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Server</a:t>
            </a:r>
            <a:endParaRPr lang="en-US" sz="1000"/>
          </a:p>
        </p:txBody>
      </p:sp>
      <p:sp>
        <p:nvSpPr>
          <p:cNvPr id="87" name="Text 69"/>
          <p:cNvSpPr txBox="1"/>
          <p:nvPr/>
        </p:nvSpPr>
        <p:spPr>
          <a:xfrm>
            <a:off x="7193585" y="2787091"/>
            <a:ext cx="92354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Logic</a:t>
            </a:r>
            <a:endParaRPr lang="en-US" sz="900"/>
          </a:p>
        </p:txBody>
      </p:sp>
      <p:pic>
        <p:nvPicPr>
          <p:cNvPr id="88" name="Image 16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487254" y="1857146"/>
            <a:ext cx="571500" cy="571500"/>
          </a:xfrm>
          <a:prstGeom prst="rect">
            <a:avLst/>
          </a:prstGeom>
        </p:spPr>
      </p:pic>
      <p:pic>
        <p:nvPicPr>
          <p:cNvPr id="89" name="Image 17" descr="preencoded.png"/>
          <p:cNvPicPr>
            <a:picLocks noChangeAspect="1"/>
          </p:cNvPicPr>
          <p:nvPr/>
        </p:nvPicPr>
        <p:blipFill>
          <a:blip r:embed="rId18"/>
          <a:srcRect l="-80" r="-80"/>
          <a:stretch/>
        </p:blipFill>
        <p:spPr>
          <a:xfrm>
            <a:off x="10629900" y="2029054"/>
            <a:ext cx="286207" cy="228600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10346436" y="2542946"/>
            <a:ext cx="857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000"/>
          </a:p>
        </p:txBody>
      </p:sp>
      <p:sp>
        <p:nvSpPr>
          <p:cNvPr id="91" name="Text 71"/>
          <p:cNvSpPr txBox="1"/>
          <p:nvPr/>
        </p:nvSpPr>
        <p:spPr>
          <a:xfrm>
            <a:off x="10543032" y="2787091"/>
            <a:ext cx="4672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UI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2605" y="190195"/>
            <a:ext cx="1218895" cy="12188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3" r="-23"/>
          <a:stretch/>
        </p:blipFill>
        <p:spPr>
          <a:xfrm>
            <a:off x="190195" y="5447995"/>
            <a:ext cx="1524305" cy="12188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14400" y="228600"/>
            <a:ext cx="4759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Device Simulation (Node.js) </a:t>
            </a:r>
            <a:endParaRPr lang="en-US" sz="24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04495"/>
            <a:ext cx="30449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/>
          </a:p>
        </p:txBody>
      </p:sp>
      <p:sp>
        <p:nvSpPr>
          <p:cNvPr id="12" name="Shape 6"/>
          <p:cNvSpPr/>
          <p:nvPr/>
        </p:nvSpPr>
        <p:spPr>
          <a:xfrm>
            <a:off x="457200" y="1238098"/>
            <a:ext cx="5486400" cy="5618451"/>
          </a:xfrm>
          <a:prstGeom prst="roundRect">
            <a:avLst>
              <a:gd name="adj" fmla="val 34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57200" y="1238098"/>
            <a:ext cx="5486400" cy="38405"/>
          </a:xfrm>
          <a:prstGeom prst="roundRect">
            <a:avLst>
              <a:gd name="adj" fmla="val 49603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466344" y="1276502"/>
            <a:ext cx="5467198" cy="866851"/>
          </a:xfrm>
          <a:prstGeom prst="rect">
            <a:avLst/>
          </a:prstGeom>
          <a:solidFill>
            <a:srgbClr val="60A5FA">
              <a:alpha val="10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466344" y="2134210"/>
            <a:ext cx="54671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rcRect l="-45314" r="-45314"/>
          <a:stretch/>
        </p:blipFill>
        <p:spPr>
          <a:xfrm>
            <a:off x="657454" y="1586484"/>
            <a:ext cx="381305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90549" y="1466698"/>
            <a:ext cx="355153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Device 1: Parking Lock</a:t>
            </a:r>
            <a:endParaRPr lang="en-US" sz="1500"/>
          </a:p>
        </p:txBody>
      </p:sp>
      <p:sp>
        <p:nvSpPr>
          <p:cNvPr id="18" name="Text 11"/>
          <p:cNvSpPr txBox="1"/>
          <p:nvPr/>
        </p:nvSpPr>
        <p:spPr>
          <a:xfrm>
            <a:off x="923544" y="2363724"/>
            <a:ext cx="4896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Sensors</a:t>
            </a:r>
            <a:endParaRPr lang="en-US" sz="100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694944" y="2394814"/>
            <a:ext cx="152705" cy="13350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94944" y="2672791"/>
            <a:ext cx="1571854" cy="1037844"/>
          </a:xfrm>
          <a:prstGeom prst="roundRect">
            <a:avLst>
              <a:gd name="adj" fmla="val 646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1336853" y="2834640"/>
            <a:ext cx="286207" cy="2286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69518" y="3139135"/>
            <a:ext cx="619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Magnetic</a:t>
            </a:r>
            <a:endParaRPr lang="en-US" sz="900"/>
          </a:p>
        </p:txBody>
      </p:sp>
      <p:sp>
        <p:nvSpPr>
          <p:cNvPr id="23" name="Text 14"/>
          <p:cNvSpPr txBox="1"/>
          <p:nvPr/>
        </p:nvSpPr>
        <p:spPr>
          <a:xfrm>
            <a:off x="1014070" y="3349447"/>
            <a:ext cx="933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500 units</a:t>
            </a:r>
            <a:endParaRPr lang="en-US" sz="1000"/>
          </a:p>
        </p:txBody>
      </p:sp>
      <p:sp>
        <p:nvSpPr>
          <p:cNvPr id="24" name="Shape 15"/>
          <p:cNvSpPr/>
          <p:nvPr/>
        </p:nvSpPr>
        <p:spPr>
          <a:xfrm>
            <a:off x="2415845" y="2672791"/>
            <a:ext cx="1571854" cy="1037844"/>
          </a:xfrm>
          <a:prstGeom prst="roundRect">
            <a:avLst>
              <a:gd name="adj" fmla="val 646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1"/>
          <a:srcRect t="-45" b="-45"/>
          <a:stretch/>
        </p:blipFill>
        <p:spPr>
          <a:xfrm>
            <a:off x="3071470" y="2834640"/>
            <a:ext cx="256946" cy="2286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2951683" y="3139135"/>
            <a:ext cx="4974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Battery</a:t>
            </a:r>
            <a:endParaRPr lang="en-US" sz="900"/>
          </a:p>
        </p:txBody>
      </p:sp>
      <p:sp>
        <p:nvSpPr>
          <p:cNvPr id="27" name="Text 17"/>
          <p:cNvSpPr txBox="1"/>
          <p:nvPr/>
        </p:nvSpPr>
        <p:spPr>
          <a:xfrm>
            <a:off x="2890418" y="3349447"/>
            <a:ext cx="629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70-100%</a:t>
            </a:r>
            <a:endParaRPr lang="en-US" sz="1000"/>
          </a:p>
        </p:txBody>
      </p:sp>
      <p:sp>
        <p:nvSpPr>
          <p:cNvPr id="28" name="Shape 18"/>
          <p:cNvSpPr/>
          <p:nvPr/>
        </p:nvSpPr>
        <p:spPr>
          <a:xfrm>
            <a:off x="4136746" y="2672791"/>
            <a:ext cx="1571854" cy="1037844"/>
          </a:xfrm>
          <a:prstGeom prst="roundRect">
            <a:avLst>
              <a:gd name="adj" fmla="val 646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2"/>
          <a:srcRect l="-80" r="-80"/>
          <a:stretch/>
        </p:blipFill>
        <p:spPr>
          <a:xfrm>
            <a:off x="4778654" y="2834640"/>
            <a:ext cx="286207" cy="22860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555541" y="3139135"/>
            <a:ext cx="7370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Signal (RF)</a:t>
            </a:r>
            <a:endParaRPr lang="en-US" sz="900"/>
          </a:p>
        </p:txBody>
      </p:sp>
      <p:sp>
        <p:nvSpPr>
          <p:cNvPr id="31" name="Text 20"/>
          <p:cNvSpPr txBox="1"/>
          <p:nvPr/>
        </p:nvSpPr>
        <p:spPr>
          <a:xfrm>
            <a:off x="4649724" y="3349447"/>
            <a:ext cx="543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0-100%</a:t>
            </a:r>
            <a:endParaRPr lang="en-US" sz="1000"/>
          </a:p>
        </p:txBody>
      </p:sp>
      <p:sp>
        <p:nvSpPr>
          <p:cNvPr id="32" name="Text 21"/>
          <p:cNvSpPr txBox="1"/>
          <p:nvPr/>
        </p:nvSpPr>
        <p:spPr>
          <a:xfrm>
            <a:off x="942746" y="4010558"/>
            <a:ext cx="487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Actuators</a:t>
            </a:r>
            <a:endParaRPr lang="en-US" sz="100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694944" y="4040734"/>
            <a:ext cx="171907" cy="13350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94944" y="4318711"/>
            <a:ext cx="2428646" cy="609905"/>
          </a:xfrm>
          <a:prstGeom prst="roundRect">
            <a:avLst>
              <a:gd name="adj" fmla="val 18741"/>
            </a:avLst>
          </a:prstGeom>
          <a:solidFill>
            <a:srgbClr val="1E293B"/>
          </a:solidFill>
          <a:ln/>
        </p:spPr>
      </p:sp>
      <p:sp>
        <p:nvSpPr>
          <p:cNvPr id="35" name="Shape 23"/>
          <p:cNvSpPr/>
          <p:nvPr/>
        </p:nvSpPr>
        <p:spPr>
          <a:xfrm>
            <a:off x="694944" y="4318711"/>
            <a:ext cx="28346" cy="609905"/>
          </a:xfrm>
          <a:prstGeom prst="roundRect">
            <a:avLst>
              <a:gd name="adj" fmla="val 403231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4"/>
          <a:srcRect l="-1082" r="-1082"/>
          <a:stretch/>
        </p:blipFill>
        <p:spPr>
          <a:xfrm>
            <a:off x="838505" y="4530852"/>
            <a:ext cx="161849" cy="181051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114654" y="4433011"/>
            <a:ext cx="10003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Mech. Arm</a:t>
            </a:r>
            <a:endParaRPr lang="en-US" sz="1000"/>
          </a:p>
        </p:txBody>
      </p:sp>
      <p:sp>
        <p:nvSpPr>
          <p:cNvPr id="38" name="Text 25"/>
          <p:cNvSpPr txBox="1"/>
          <p:nvPr/>
        </p:nvSpPr>
        <p:spPr>
          <a:xfrm>
            <a:off x="1114654" y="4638751"/>
            <a:ext cx="11000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Raise/Lower (2s)</a:t>
            </a:r>
            <a:endParaRPr lang="en-US" sz="900"/>
          </a:p>
        </p:txBody>
      </p:sp>
      <p:sp>
        <p:nvSpPr>
          <p:cNvPr id="39" name="Shape 26"/>
          <p:cNvSpPr/>
          <p:nvPr/>
        </p:nvSpPr>
        <p:spPr>
          <a:xfrm>
            <a:off x="3276295" y="4318711"/>
            <a:ext cx="2428646" cy="609905"/>
          </a:xfrm>
          <a:prstGeom prst="roundRect">
            <a:avLst>
              <a:gd name="adj" fmla="val 18741"/>
            </a:avLst>
          </a:prstGeom>
          <a:solidFill>
            <a:srgbClr val="1E293B"/>
          </a:solidFill>
          <a:ln/>
        </p:spPr>
      </p:sp>
      <p:sp>
        <p:nvSpPr>
          <p:cNvPr id="40" name="Shape 27"/>
          <p:cNvSpPr/>
          <p:nvPr/>
        </p:nvSpPr>
        <p:spPr>
          <a:xfrm>
            <a:off x="3276295" y="4318711"/>
            <a:ext cx="28346" cy="609905"/>
          </a:xfrm>
          <a:prstGeom prst="roundRect">
            <a:avLst>
              <a:gd name="adj" fmla="val 403231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5"/>
          <a:srcRect l="-505" r="-505"/>
          <a:stretch/>
        </p:blipFill>
        <p:spPr>
          <a:xfrm>
            <a:off x="3419856" y="4530852"/>
            <a:ext cx="228600" cy="181051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762756" y="4433011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</a:t>
            </a:r>
            <a:endParaRPr lang="en-US" sz="1000"/>
          </a:p>
        </p:txBody>
      </p:sp>
      <p:sp>
        <p:nvSpPr>
          <p:cNvPr id="43" name="Text 29"/>
          <p:cNvSpPr txBox="1"/>
          <p:nvPr/>
        </p:nvSpPr>
        <p:spPr>
          <a:xfrm>
            <a:off x="3762756" y="4638751"/>
            <a:ext cx="9052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Tamper Alarm</a:t>
            </a:r>
            <a:endParaRPr lang="en-US" sz="900"/>
          </a:p>
        </p:txBody>
      </p:sp>
      <p:sp>
        <p:nvSpPr>
          <p:cNvPr id="44" name="Text 30"/>
          <p:cNvSpPr txBox="1"/>
          <p:nvPr/>
        </p:nvSpPr>
        <p:spPr>
          <a:xfrm>
            <a:off x="904342" y="5229454"/>
            <a:ext cx="4915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Flow</a:t>
            </a:r>
            <a:endParaRPr lang="en-US" sz="100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94944" y="5259629"/>
            <a:ext cx="133502" cy="133502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6248095" y="1238098"/>
            <a:ext cx="5486400" cy="5618451"/>
          </a:xfrm>
          <a:prstGeom prst="roundRect">
            <a:avLst>
              <a:gd name="adj" fmla="val 34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7" name="Shape 32"/>
          <p:cNvSpPr/>
          <p:nvPr/>
        </p:nvSpPr>
        <p:spPr>
          <a:xfrm>
            <a:off x="6248095" y="1238098"/>
            <a:ext cx="5486400" cy="38405"/>
          </a:xfrm>
          <a:prstGeom prst="roundRect">
            <a:avLst>
              <a:gd name="adj" fmla="val 49603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8" name="Shape 33"/>
          <p:cNvSpPr/>
          <p:nvPr/>
        </p:nvSpPr>
        <p:spPr>
          <a:xfrm>
            <a:off x="6258154" y="1276502"/>
            <a:ext cx="5467198" cy="866851"/>
          </a:xfrm>
          <a:prstGeom prst="rect">
            <a:avLst/>
          </a:prstGeom>
          <a:solidFill>
            <a:srgbClr val="34D399">
              <a:alpha val="10000"/>
            </a:srgbClr>
          </a:solidFill>
          <a:ln/>
        </p:spPr>
      </p:sp>
      <p:sp>
        <p:nvSpPr>
          <p:cNvPr id="49" name="Shape 34"/>
          <p:cNvSpPr/>
          <p:nvPr/>
        </p:nvSpPr>
        <p:spPr>
          <a:xfrm>
            <a:off x="6258154" y="2134210"/>
            <a:ext cx="54671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7"/>
          <a:srcRect l="-16720" r="-16720"/>
          <a:stretch/>
        </p:blipFill>
        <p:spPr>
          <a:xfrm>
            <a:off x="6448349" y="1586484"/>
            <a:ext cx="381305" cy="228600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6981444" y="1466698"/>
            <a:ext cx="2971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Edge Device 2: Gateway</a:t>
            </a:r>
            <a:endParaRPr lang="en-US" sz="1500"/>
          </a:p>
        </p:txBody>
      </p:sp>
      <p:sp>
        <p:nvSpPr>
          <p:cNvPr id="52" name="Text 36"/>
          <p:cNvSpPr txBox="1"/>
          <p:nvPr/>
        </p:nvSpPr>
        <p:spPr>
          <a:xfrm>
            <a:off x="6696151" y="2363724"/>
            <a:ext cx="4915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Responsibilities</a:t>
            </a:r>
            <a:endParaRPr lang="en-US" sz="100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486754" y="2394814"/>
            <a:ext cx="133502" cy="133502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6791249" y="2672791"/>
            <a:ext cx="4820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Coordinators for 3 locks per gateway</a:t>
            </a:r>
            <a:endParaRPr lang="en-US" sz="100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9"/>
          <a:srcRect l="-21233" r="-21233"/>
          <a:stretch/>
        </p:blipFill>
        <p:spPr>
          <a:xfrm>
            <a:off x="6486754" y="2709367"/>
            <a:ext cx="190195" cy="133502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6791249" y="3000146"/>
            <a:ext cx="4820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MQTT Connectivity (TCP/IP)</a:t>
            </a:r>
            <a:endParaRPr lang="en-US" sz="100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20"/>
          <a:srcRect l="-6986" r="-6986"/>
          <a:stretch/>
        </p:blipFill>
        <p:spPr>
          <a:xfrm>
            <a:off x="6486754" y="3036722"/>
            <a:ext cx="190195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6791249" y="3328416"/>
            <a:ext cx="4820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Processing &amp; Routing</a:t>
            </a:r>
            <a:endParaRPr lang="en-US" sz="100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21"/>
          <a:srcRect l="-13318" r="-13318"/>
          <a:stretch/>
        </p:blipFill>
        <p:spPr>
          <a:xfrm>
            <a:off x="6486754" y="3364078"/>
            <a:ext cx="190195" cy="133502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6791249" y="3655771"/>
            <a:ext cx="482071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Aggregation</a:t>
            </a:r>
            <a:endParaRPr lang="en-US" sz="1000"/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22"/>
          <a:srcRect l="-13318" r="-13318"/>
          <a:stretch/>
        </p:blipFill>
        <p:spPr>
          <a:xfrm>
            <a:off x="6486754" y="3692347"/>
            <a:ext cx="190195" cy="133502"/>
          </a:xfrm>
          <a:prstGeom prst="rect">
            <a:avLst/>
          </a:prstGeom>
        </p:spPr>
      </p:pic>
      <p:sp>
        <p:nvSpPr>
          <p:cNvPr id="62" name="Text 41"/>
          <p:cNvSpPr txBox="1"/>
          <p:nvPr/>
        </p:nvSpPr>
        <p:spPr>
          <a:xfrm>
            <a:off x="6715354" y="4288536"/>
            <a:ext cx="4896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Topology</a:t>
            </a:r>
            <a:endParaRPr lang="en-US" sz="1000"/>
          </a:p>
        </p:txBody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23"/>
          <a:srcRect l="-837" r="-837"/>
          <a:stretch/>
        </p:blipFill>
        <p:spPr>
          <a:xfrm>
            <a:off x="6486754" y="4318711"/>
            <a:ext cx="152705" cy="133502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1190549" y="1752905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0A5FA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Simulated Hardware Unit</a:t>
            </a:r>
            <a:endParaRPr lang="en-US" sz="900"/>
          </a:p>
        </p:txBody>
      </p:sp>
      <p:sp>
        <p:nvSpPr>
          <p:cNvPr id="65" name="Shape 43"/>
          <p:cNvSpPr/>
          <p:nvPr/>
        </p:nvSpPr>
        <p:spPr>
          <a:xfrm>
            <a:off x="694944" y="6197803"/>
            <a:ext cx="5009998" cy="619049"/>
          </a:xfrm>
          <a:prstGeom prst="roundRect">
            <a:avLst>
              <a:gd name="adj" fmla="val 18180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24"/>
          <a:srcRect t="-402" b="-402"/>
          <a:stretch/>
        </p:blipFill>
        <p:spPr>
          <a:xfrm>
            <a:off x="1419149" y="6496812"/>
            <a:ext cx="576986" cy="19202"/>
          </a:xfrm>
          <a:prstGeom prst="rect">
            <a:avLst/>
          </a:prstGeom>
        </p:spPr>
      </p:pic>
      <p:pic>
        <p:nvPicPr>
          <p:cNvPr id="67" name="Image 21" descr="preencoded.png"/>
          <p:cNvPicPr>
            <a:picLocks noChangeAspect="1"/>
          </p:cNvPicPr>
          <p:nvPr/>
        </p:nvPicPr>
        <p:blipFill>
          <a:blip r:embed="rId24"/>
          <a:srcRect t="-415" b="-415"/>
          <a:stretch/>
        </p:blipFill>
        <p:spPr>
          <a:xfrm>
            <a:off x="2902306" y="6496812"/>
            <a:ext cx="576986" cy="19202"/>
          </a:xfrm>
          <a:prstGeom prst="rect">
            <a:avLst/>
          </a:prstGeom>
        </p:spPr>
      </p:pic>
      <p:pic>
        <p:nvPicPr>
          <p:cNvPr id="68" name="Image 22" descr="preencoded.png"/>
          <p:cNvPicPr>
            <a:picLocks noChangeAspect="1"/>
          </p:cNvPicPr>
          <p:nvPr/>
        </p:nvPicPr>
        <p:blipFill>
          <a:blip r:embed="rId24"/>
          <a:srcRect t="-402" b="-402"/>
          <a:stretch/>
        </p:blipFill>
        <p:spPr>
          <a:xfrm>
            <a:off x="4404665" y="6496812"/>
            <a:ext cx="576986" cy="19202"/>
          </a:xfrm>
          <a:prstGeom prst="rect">
            <a:avLst/>
          </a:prstGeom>
        </p:spPr>
      </p:pic>
      <p:sp>
        <p:nvSpPr>
          <p:cNvPr id="69" name="Text 44"/>
          <p:cNvSpPr txBox="1"/>
          <p:nvPr/>
        </p:nvSpPr>
        <p:spPr>
          <a:xfrm>
            <a:off x="6981444" y="1752905"/>
            <a:ext cx="2971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4D399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Coordinator Node</a:t>
            </a:r>
            <a:endParaRPr lang="en-US" sz="900"/>
          </a:p>
        </p:txBody>
      </p:sp>
      <p:sp>
        <p:nvSpPr>
          <p:cNvPr id="70" name="Shape 45"/>
          <p:cNvSpPr/>
          <p:nvPr/>
        </p:nvSpPr>
        <p:spPr>
          <a:xfrm>
            <a:off x="6486754" y="4597603"/>
            <a:ext cx="5009998" cy="2143354"/>
          </a:xfrm>
          <a:prstGeom prst="roundRect">
            <a:avLst>
              <a:gd name="adj" fmla="val 15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Shape 46"/>
          <p:cNvSpPr/>
          <p:nvPr/>
        </p:nvSpPr>
        <p:spPr>
          <a:xfrm>
            <a:off x="7914132" y="6321247"/>
            <a:ext cx="1209751" cy="256946"/>
          </a:xfrm>
          <a:prstGeom prst="rect">
            <a:avLst/>
          </a:prstGeom>
          <a:noFill/>
          <a:ln/>
        </p:spPr>
      </p:sp>
      <p:sp>
        <p:nvSpPr>
          <p:cNvPr id="72" name="Text 47"/>
          <p:cNvSpPr/>
          <p:nvPr/>
        </p:nvSpPr>
        <p:spPr>
          <a:xfrm>
            <a:off x="8142732" y="6321247"/>
            <a:ext cx="981151" cy="257861"/>
          </a:xfrm>
          <a:prstGeom prst="rect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Heartbeat: 30s</a:t>
            </a:r>
            <a:endParaRPr lang="en-US" sz="800"/>
          </a:p>
        </p:txBody>
      </p:sp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000086" y="6391656"/>
            <a:ext cx="105156" cy="105156"/>
          </a:xfrm>
          <a:prstGeom prst="rect">
            <a:avLst/>
          </a:prstGeom>
        </p:spPr>
      </p:pic>
      <p:sp>
        <p:nvSpPr>
          <p:cNvPr id="74" name="Shape 48"/>
          <p:cNvSpPr/>
          <p:nvPr/>
        </p:nvSpPr>
        <p:spPr>
          <a:xfrm>
            <a:off x="9123883" y="6321247"/>
            <a:ext cx="952805" cy="256946"/>
          </a:xfrm>
          <a:prstGeom prst="rect">
            <a:avLst/>
          </a:prstGeom>
          <a:noFill/>
          <a:ln/>
        </p:spPr>
      </p:sp>
      <p:sp>
        <p:nvSpPr>
          <p:cNvPr id="75" name="Text 49"/>
          <p:cNvSpPr/>
          <p:nvPr/>
        </p:nvSpPr>
        <p:spPr>
          <a:xfrm>
            <a:off x="9343339" y="6321247"/>
            <a:ext cx="733349" cy="257861"/>
          </a:xfrm>
          <a:prstGeom prst="rect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System</a:t>
            </a:r>
            <a:endParaRPr lang="en-US" sz="800"/>
          </a:p>
        </p:txBody>
      </p:sp>
      <p:pic>
        <p:nvPicPr>
          <p:cNvPr id="76" name="Image 24" descr="preencoded.png"/>
          <p:cNvPicPr>
            <a:picLocks noChangeAspect="1"/>
          </p:cNvPicPr>
          <p:nvPr/>
        </p:nvPicPr>
        <p:blipFill>
          <a:blip r:embed="rId26"/>
          <a:srcRect l="-1677" r="-1677"/>
          <a:stretch/>
        </p:blipFill>
        <p:spPr>
          <a:xfrm>
            <a:off x="9209837" y="6391656"/>
            <a:ext cx="95098" cy="105156"/>
          </a:xfrm>
          <a:prstGeom prst="rect">
            <a:avLst/>
          </a:prstGeom>
        </p:spPr>
      </p:pic>
      <p:pic>
        <p:nvPicPr>
          <p:cNvPr id="77" name="Image 25" descr="preencoded.png"/>
          <p:cNvPicPr>
            <a:picLocks noChangeAspect="1"/>
          </p:cNvPicPr>
          <p:nvPr/>
        </p:nvPicPr>
        <p:blipFill>
          <a:blip r:embed="rId27"/>
          <a:srcRect l="-342" r="-342"/>
          <a:stretch/>
        </p:blipFill>
        <p:spPr>
          <a:xfrm>
            <a:off x="8982151" y="5320894"/>
            <a:ext cx="19202" cy="333756"/>
          </a:xfrm>
          <a:prstGeom prst="rect">
            <a:avLst/>
          </a:prstGeom>
        </p:spPr>
      </p:pic>
      <p:pic>
        <p:nvPicPr>
          <p:cNvPr id="78" name="Image 26" descr="preencoded.png"/>
          <p:cNvPicPr>
            <a:picLocks noChangeAspect="1"/>
          </p:cNvPicPr>
          <p:nvPr/>
        </p:nvPicPr>
        <p:blipFill>
          <a:blip r:embed="rId28"/>
          <a:srcRect l="-35" r="-35"/>
          <a:stretch/>
        </p:blipFill>
        <p:spPr>
          <a:xfrm rot="2100000">
            <a:off x="8303666" y="5437937"/>
            <a:ext cx="635508" cy="452628"/>
          </a:xfrm>
          <a:prstGeom prst="rect">
            <a:avLst/>
          </a:prstGeom>
        </p:spPr>
      </p:pic>
      <p:pic>
        <p:nvPicPr>
          <p:cNvPr id="79" name="Image 27" descr="preencoded.png"/>
          <p:cNvPicPr>
            <a:picLocks noChangeAspect="1"/>
          </p:cNvPicPr>
          <p:nvPr/>
        </p:nvPicPr>
        <p:blipFill>
          <a:blip r:embed="rId28"/>
          <a:srcRect l="-35" r="-35"/>
          <a:stretch/>
        </p:blipFill>
        <p:spPr>
          <a:xfrm rot="19500000">
            <a:off x="8917229" y="5437937"/>
            <a:ext cx="635508" cy="452628"/>
          </a:xfrm>
          <a:prstGeom prst="rect">
            <a:avLst/>
          </a:prstGeom>
        </p:spPr>
      </p:pic>
      <p:sp>
        <p:nvSpPr>
          <p:cNvPr id="80" name="Shape 50"/>
          <p:cNvSpPr/>
          <p:nvPr/>
        </p:nvSpPr>
        <p:spPr>
          <a:xfrm>
            <a:off x="847649" y="6349594"/>
            <a:ext cx="523951" cy="314554"/>
          </a:xfrm>
          <a:prstGeom prst="rect">
            <a:avLst/>
          </a:prstGeom>
          <a:noFill/>
          <a:ln/>
        </p:spPr>
      </p:sp>
      <p:sp>
        <p:nvSpPr>
          <p:cNvPr id="81" name="Text 51"/>
          <p:cNvSpPr/>
          <p:nvPr/>
        </p:nvSpPr>
        <p:spPr>
          <a:xfrm>
            <a:off x="847649" y="6349594"/>
            <a:ext cx="523951" cy="314554"/>
          </a:xfrm>
          <a:prstGeom prst="rect">
            <a:avLst/>
          </a:prstGeom>
          <a:solidFill>
            <a:srgbClr val="334155"/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</a:t>
            </a:r>
            <a:endParaRPr lang="en-US" sz="900"/>
          </a:p>
        </p:txBody>
      </p:sp>
      <p:sp>
        <p:nvSpPr>
          <p:cNvPr id="82" name="Shape 52"/>
          <p:cNvSpPr/>
          <p:nvPr/>
        </p:nvSpPr>
        <p:spPr>
          <a:xfrm>
            <a:off x="2043684" y="6349594"/>
            <a:ext cx="819302" cy="314554"/>
          </a:xfrm>
          <a:prstGeom prst="rect">
            <a:avLst/>
          </a:prstGeom>
          <a:noFill/>
          <a:ln/>
        </p:spPr>
      </p:sp>
      <p:sp>
        <p:nvSpPr>
          <p:cNvPr id="83" name="Text 53"/>
          <p:cNvSpPr/>
          <p:nvPr/>
        </p:nvSpPr>
        <p:spPr>
          <a:xfrm>
            <a:off x="2043684" y="6349594"/>
            <a:ext cx="819302" cy="314554"/>
          </a:xfrm>
          <a:prstGeom prst="rect">
            <a:avLst/>
          </a:prstGeom>
          <a:solidFill>
            <a:srgbClr val="334155"/>
          </a:solidFill>
          <a:ln w="12700">
            <a:solidFill>
              <a:srgbClr val="FBBF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BBF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Reserved</a:t>
            </a:r>
            <a:endParaRPr lang="en-US" sz="900"/>
          </a:p>
        </p:txBody>
      </p:sp>
      <p:sp>
        <p:nvSpPr>
          <p:cNvPr id="84" name="Shape 54"/>
          <p:cNvSpPr/>
          <p:nvPr/>
        </p:nvSpPr>
        <p:spPr>
          <a:xfrm>
            <a:off x="3526841" y="6349594"/>
            <a:ext cx="838505" cy="314554"/>
          </a:xfrm>
          <a:prstGeom prst="rect">
            <a:avLst/>
          </a:prstGeom>
          <a:noFill/>
          <a:ln/>
        </p:spPr>
      </p:sp>
      <p:sp>
        <p:nvSpPr>
          <p:cNvPr id="85" name="Text 55"/>
          <p:cNvSpPr/>
          <p:nvPr/>
        </p:nvSpPr>
        <p:spPr>
          <a:xfrm>
            <a:off x="3526841" y="6349594"/>
            <a:ext cx="838505" cy="314554"/>
          </a:xfrm>
          <a:prstGeom prst="rect">
            <a:avLst/>
          </a:prstGeom>
          <a:solidFill>
            <a:srgbClr val="334155"/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Occupied</a:t>
            </a:r>
            <a:endParaRPr lang="en-US" sz="900"/>
          </a:p>
        </p:txBody>
      </p:sp>
      <p:sp>
        <p:nvSpPr>
          <p:cNvPr id="86" name="Shape 56"/>
          <p:cNvSpPr/>
          <p:nvPr/>
        </p:nvSpPr>
        <p:spPr>
          <a:xfrm>
            <a:off x="5029200" y="6349594"/>
            <a:ext cx="523951" cy="314554"/>
          </a:xfrm>
          <a:prstGeom prst="rect">
            <a:avLst/>
          </a:prstGeom>
          <a:noFill/>
          <a:ln/>
        </p:spPr>
      </p:sp>
      <p:sp>
        <p:nvSpPr>
          <p:cNvPr id="87" name="Text 57"/>
          <p:cNvSpPr/>
          <p:nvPr/>
        </p:nvSpPr>
        <p:spPr>
          <a:xfrm>
            <a:off x="5029200" y="6349594"/>
            <a:ext cx="523951" cy="314554"/>
          </a:xfrm>
          <a:prstGeom prst="rect">
            <a:avLst/>
          </a:prstGeom>
          <a:solidFill>
            <a:srgbClr val="334155"/>
          </a:solidFill>
          <a:ln w="12700">
            <a:solidFill>
              <a:srgbClr val="34D39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</a:t>
            </a:r>
            <a:endParaRPr lang="en-US" sz="900"/>
          </a:p>
        </p:txBody>
      </p:sp>
      <p:pic>
        <p:nvPicPr>
          <p:cNvPr id="88" name="Image 28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8706002" y="4759452"/>
            <a:ext cx="571500" cy="571500"/>
          </a:xfrm>
          <a:prstGeom prst="rect">
            <a:avLst/>
          </a:prstGeom>
        </p:spPr>
      </p:pic>
      <p:pic>
        <p:nvPicPr>
          <p:cNvPr id="89" name="Image 29" descr="preencoded.png"/>
          <p:cNvPicPr>
            <a:picLocks noChangeAspect="1"/>
          </p:cNvPicPr>
          <p:nvPr/>
        </p:nvPicPr>
        <p:blipFill>
          <a:blip r:embed="rId30"/>
          <a:srcRect t="-45" b="-45"/>
          <a:stretch/>
        </p:blipFill>
        <p:spPr>
          <a:xfrm>
            <a:off x="8863279" y="4930445"/>
            <a:ext cx="256946" cy="228600"/>
          </a:xfrm>
          <a:prstGeom prst="rect">
            <a:avLst/>
          </a:prstGeom>
        </p:spPr>
      </p:pic>
      <p:sp>
        <p:nvSpPr>
          <p:cNvPr id="90" name="Shape 58"/>
          <p:cNvSpPr/>
          <p:nvPr/>
        </p:nvSpPr>
        <p:spPr>
          <a:xfrm>
            <a:off x="8115300" y="5635447"/>
            <a:ext cx="381305" cy="3813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0A5FA"/>
            </a:solidFill>
            <a:prstDash val="solid"/>
          </a:ln>
        </p:spPr>
      </p:sp>
      <p:pic>
        <p:nvPicPr>
          <p:cNvPr id="91" name="Image 30" descr="preencoded.png"/>
          <p:cNvPicPr>
            <a:picLocks noChangeAspect="1"/>
          </p:cNvPicPr>
          <p:nvPr/>
        </p:nvPicPr>
        <p:blipFill>
          <a:blip r:embed="rId31"/>
          <a:srcRect t="-43" b="-43"/>
          <a:stretch/>
        </p:blipFill>
        <p:spPr>
          <a:xfrm>
            <a:off x="8238744" y="5749747"/>
            <a:ext cx="133502" cy="152705"/>
          </a:xfrm>
          <a:prstGeom prst="rect">
            <a:avLst/>
          </a:prstGeom>
        </p:spPr>
      </p:pic>
      <p:sp>
        <p:nvSpPr>
          <p:cNvPr id="92" name="Shape 59"/>
          <p:cNvSpPr/>
          <p:nvPr/>
        </p:nvSpPr>
        <p:spPr>
          <a:xfrm>
            <a:off x="8801100" y="5635447"/>
            <a:ext cx="381305" cy="3813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0A5FA"/>
            </a:solidFill>
            <a:prstDash val="solid"/>
          </a:ln>
        </p:spPr>
      </p:sp>
      <p:pic>
        <p:nvPicPr>
          <p:cNvPr id="93" name="Image 31" descr="preencoded.png"/>
          <p:cNvPicPr>
            <a:picLocks noChangeAspect="1"/>
          </p:cNvPicPr>
          <p:nvPr/>
        </p:nvPicPr>
        <p:blipFill>
          <a:blip r:embed="rId31"/>
          <a:srcRect t="-43" b="-43"/>
          <a:stretch/>
        </p:blipFill>
        <p:spPr>
          <a:xfrm>
            <a:off x="8924544" y="5749747"/>
            <a:ext cx="133502" cy="152705"/>
          </a:xfrm>
          <a:prstGeom prst="rect">
            <a:avLst/>
          </a:prstGeom>
        </p:spPr>
      </p:pic>
      <p:sp>
        <p:nvSpPr>
          <p:cNvPr id="94" name="Shape 60"/>
          <p:cNvSpPr/>
          <p:nvPr/>
        </p:nvSpPr>
        <p:spPr>
          <a:xfrm>
            <a:off x="9486900" y="5635447"/>
            <a:ext cx="381305" cy="381305"/>
          </a:xfrm>
          <a:prstGeom prst="ellipse">
            <a:avLst/>
          </a:prstGeom>
          <a:solidFill>
            <a:srgbClr val="0F172A"/>
          </a:solidFill>
          <a:ln w="25400">
            <a:solidFill>
              <a:srgbClr val="60A5FA"/>
            </a:solidFill>
            <a:prstDash val="solid"/>
          </a:ln>
        </p:spPr>
      </p:sp>
      <p:pic>
        <p:nvPicPr>
          <p:cNvPr id="95" name="Image 32" descr="preencoded.png"/>
          <p:cNvPicPr>
            <a:picLocks noChangeAspect="1"/>
          </p:cNvPicPr>
          <p:nvPr/>
        </p:nvPicPr>
        <p:blipFill>
          <a:blip r:embed="rId31"/>
          <a:srcRect t="-43" b="-43"/>
          <a:stretch/>
        </p:blipFill>
        <p:spPr>
          <a:xfrm>
            <a:off x="9610344" y="5749747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1">
            <a:extLst>
              <a:ext uri="{FF2B5EF4-FFF2-40B4-BE49-F238E27FC236}">
                <a16:creationId xmlns:a16="http://schemas.microsoft.com/office/drawing/2014/main" id="{AE5E7255-99FC-0D15-B7F6-E4649C2A7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90295" y="228600"/>
            <a:ext cx="4116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Backend API (Express.js) </a:t>
            </a:r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457200" y="304495"/>
            <a:ext cx="381305" cy="304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457200" y="1162202"/>
            <a:ext cx="11277295" cy="4371746"/>
          </a:xfrm>
          <a:prstGeom prst="roundRect">
            <a:avLst>
              <a:gd name="adj" fmla="val 54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6344" y="1171346"/>
            <a:ext cx="11259007" cy="466344"/>
          </a:xfrm>
          <a:prstGeom prst="roundRect">
            <a:avLst>
              <a:gd name="adj" fmla="val 48019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466344" y="1628546"/>
            <a:ext cx="11259007" cy="9144"/>
          </a:xfrm>
          <a:prstGeom prst="roundRect">
            <a:avLst>
              <a:gd name="adj" fmla="val 2448980"/>
            </a:avLst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4944" y="1324051"/>
            <a:ext cx="152705" cy="152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3544" y="1171346"/>
            <a:ext cx="161483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Endpoints</a:t>
            </a:r>
            <a:endParaRPr lang="en-US" sz="12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" y="1638605"/>
          <a:ext cx="11259007" cy="3886200"/>
        </p:xfrm>
        <a:graphic>
          <a:graphicData uri="http://schemas.openxmlformats.org/drawingml/2006/table">
            <a:tbl>
              <a:tblPr/>
              <a:tblGrid>
                <a:gridCol w="1688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6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Method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Endpoint Route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>
                          <a:solidFill>
                            <a:srgbClr val="94A3B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Purpose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60A5FA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GET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/api/parking-lots</a:t>
                      </a:r>
                      <a:endParaRPr lang="en-US" sz="102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List all lots with availability summary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60A5FA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GET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/api/parking-slots</a:t>
                      </a:r>
                      <a:r>
                        <a:rPr lang="en-US" sz="1020">
                          <a:solidFill>
                            <a:srgbClr val="F472B6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?lot_id={id}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Get specific slots &amp; status for a lot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FBBF2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POST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/api/reservations</a:t>
                      </a:r>
                      <a:endParaRPr lang="en-US" sz="102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Create new slot reservation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60A5FA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GET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/api/reservations</a:t>
                      </a:r>
                      <a:r>
                        <a:rPr lang="en-US" sz="1020">
                          <a:solidFill>
                            <a:srgbClr val="F472B6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?filter=active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List current user's active bookings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FBBF24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POST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/api/reservations/</a:t>
                      </a:r>
                      <a:r>
                        <a:rPr lang="en-US" sz="1020">
                          <a:solidFill>
                            <a:srgbClr val="F472B6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:id</a:t>
                      </a: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/arrive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Mark arrival trigger (Opens Lock)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F8717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DEL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/api/reservations/</a:t>
                      </a:r>
                      <a:r>
                        <a:rPr lang="en-US" sz="1020">
                          <a:solidFill>
                            <a:srgbClr val="F472B6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:id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Cancel existing reservation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60A5FA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GET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/api/dashboard-stats</a:t>
                      </a:r>
                      <a:endParaRPr lang="en-US" sz="102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Real-time system statistics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>
                          <a:solidFill>
                            <a:srgbClr val="60A5FA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GET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/api/system-logs</a:t>
                      </a:r>
                      <a:r>
                        <a:rPr lang="en-US" sz="1020">
                          <a:solidFill>
                            <a:srgbClr val="F472B6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?limit=50</a:t>
                      </a:r>
                      <a:endParaRPr lang="en-US" sz="1200"/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20">
                          <a:solidFill>
                            <a:srgbClr val="CBD5E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Recent audit and system event logs</a:t>
                      </a:r>
                      <a:endParaRPr lang="en-US" sz="102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28600" marR="228600" marT="91440" marB="91440" anchor="ctr">
                    <a:lnL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Shape 14"/>
          <p:cNvSpPr/>
          <p:nvPr/>
        </p:nvSpPr>
        <p:spPr>
          <a:xfrm>
            <a:off x="657454" y="6697066"/>
            <a:ext cx="190195" cy="190195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905" b="-1905"/>
          <a:stretch/>
        </p:blipFill>
        <p:spPr>
          <a:xfrm>
            <a:off x="10039198" y="5076749"/>
            <a:ext cx="2343607" cy="211773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228600"/>
            <a:ext cx="33439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Dashboard Features </a:t>
            </a:r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304495"/>
            <a:ext cx="304495" cy="304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57200" y="1238098"/>
            <a:ext cx="6400800" cy="5555393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66344" y="1248156"/>
            <a:ext cx="6381598" cy="676656"/>
          </a:xfrm>
          <a:prstGeom prst="roundRect">
            <a:avLst>
              <a:gd name="adj" fmla="val 22840"/>
            </a:avLst>
          </a:prstGeom>
          <a:solidFill>
            <a:srgbClr val="0F172A">
              <a:alpha val="60000"/>
            </a:srgbClr>
          </a:solidFill>
          <a:ln/>
        </p:spPr>
      </p:sp>
      <p:sp>
        <p:nvSpPr>
          <p:cNvPr id="13" name="Shape 7"/>
          <p:cNvSpPr/>
          <p:nvPr/>
        </p:nvSpPr>
        <p:spPr>
          <a:xfrm>
            <a:off x="466344" y="1915668"/>
            <a:ext cx="6381598" cy="9144"/>
          </a:xfrm>
          <a:prstGeom prst="roundRect">
            <a:avLst>
              <a:gd name="adj" fmla="val 1690141"/>
            </a:avLst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43661" y="1438351"/>
            <a:ext cx="277611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5-Tab Interface Structure </a:t>
            </a:r>
            <a:endParaRPr lang="en-US" sz="150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657454" y="1485900"/>
            <a:ext cx="171907" cy="1901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94944" y="2152498"/>
            <a:ext cx="5924398" cy="780898"/>
          </a:xfrm>
          <a:prstGeom prst="roundRect">
            <a:avLst>
              <a:gd name="adj" fmla="val 11424"/>
            </a:avLst>
          </a:prstGeom>
          <a:solidFill>
            <a:srgbClr val="60A5FA">
              <a:alpha val="10000"/>
            </a:srgbClr>
          </a:solidFill>
          <a:ln/>
        </p:spPr>
      </p:sp>
      <p:sp>
        <p:nvSpPr>
          <p:cNvPr id="17" name="Shape 10"/>
          <p:cNvSpPr/>
          <p:nvPr/>
        </p:nvSpPr>
        <p:spPr>
          <a:xfrm>
            <a:off x="694944" y="2152498"/>
            <a:ext cx="38405" cy="780898"/>
          </a:xfrm>
          <a:prstGeom prst="roundRect">
            <a:avLst>
              <a:gd name="adj" fmla="val 232287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923544" y="2328977"/>
            <a:ext cx="428854" cy="428854"/>
          </a:xfrm>
          <a:prstGeom prst="roundRect">
            <a:avLst>
              <a:gd name="adj" fmla="val 37906"/>
            </a:avLst>
          </a:prstGeom>
          <a:solidFill>
            <a:srgbClr val="0F17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9"/>
          <a:srcRect l="-1403" r="-1403"/>
          <a:stretch/>
        </p:blipFill>
        <p:spPr>
          <a:xfrm>
            <a:off x="1033272" y="2452421"/>
            <a:ext cx="209398" cy="18105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543507" y="2305202"/>
            <a:ext cx="5000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</a:t>
            </a:r>
            <a:endParaRPr lang="en-US" sz="1300"/>
          </a:p>
        </p:txBody>
      </p:sp>
      <p:sp>
        <p:nvSpPr>
          <p:cNvPr id="21" name="Text 13"/>
          <p:cNvSpPr txBox="1"/>
          <p:nvPr/>
        </p:nvSpPr>
        <p:spPr>
          <a:xfrm>
            <a:off x="1543507" y="2586838"/>
            <a:ext cx="50008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statistics (Total, Available, Occupied, Reserved)</a:t>
            </a:r>
            <a:endParaRPr lang="en-US" sz="1000"/>
          </a:p>
        </p:txBody>
      </p:sp>
      <p:sp>
        <p:nvSpPr>
          <p:cNvPr id="22" name="Shape 14"/>
          <p:cNvSpPr/>
          <p:nvPr/>
        </p:nvSpPr>
        <p:spPr>
          <a:xfrm>
            <a:off x="5867705" y="2433218"/>
            <a:ext cx="599846" cy="228600"/>
          </a:xfrm>
          <a:prstGeom prst="rect">
            <a:avLst/>
          </a:prstGeom>
          <a:noFill/>
          <a:ln/>
        </p:spPr>
      </p:sp>
      <p:sp>
        <p:nvSpPr>
          <p:cNvPr id="23" name="Text 15"/>
          <p:cNvSpPr/>
          <p:nvPr/>
        </p:nvSpPr>
        <p:spPr>
          <a:xfrm>
            <a:off x="5867705" y="2433218"/>
            <a:ext cx="600761" cy="2286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800"/>
          </a:p>
        </p:txBody>
      </p:sp>
      <p:sp>
        <p:nvSpPr>
          <p:cNvPr id="24" name="Shape 16"/>
          <p:cNvSpPr/>
          <p:nvPr/>
        </p:nvSpPr>
        <p:spPr>
          <a:xfrm>
            <a:off x="694944" y="3086100"/>
            <a:ext cx="5924398" cy="780898"/>
          </a:xfrm>
          <a:prstGeom prst="roundRect">
            <a:avLst>
              <a:gd name="adj" fmla="val 11424"/>
            </a:avLst>
          </a:prstGeom>
          <a:solidFill>
            <a:srgbClr val="1E293B"/>
          </a:solidFill>
          <a:ln/>
        </p:spPr>
      </p:sp>
      <p:sp>
        <p:nvSpPr>
          <p:cNvPr id="25" name="Shape 17"/>
          <p:cNvSpPr/>
          <p:nvPr/>
        </p:nvSpPr>
        <p:spPr>
          <a:xfrm>
            <a:off x="694944" y="3086100"/>
            <a:ext cx="38405" cy="780898"/>
          </a:xfrm>
          <a:prstGeom prst="roundRect">
            <a:avLst>
              <a:gd name="adj" fmla="val 232287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23544" y="3262579"/>
            <a:ext cx="428854" cy="428854"/>
          </a:xfrm>
          <a:prstGeom prst="roundRect">
            <a:avLst>
              <a:gd name="adj" fmla="val 37906"/>
            </a:avLst>
          </a:prstGeom>
          <a:solidFill>
            <a:srgbClr val="0F17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0"/>
          <a:srcRect l="-1403" r="-1403"/>
          <a:stretch/>
        </p:blipFill>
        <p:spPr>
          <a:xfrm>
            <a:off x="1033272" y="3386023"/>
            <a:ext cx="209398" cy="181051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543507" y="3238805"/>
            <a:ext cx="5000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View</a:t>
            </a:r>
            <a:endParaRPr lang="en-US" sz="1300"/>
          </a:p>
        </p:txBody>
      </p:sp>
      <p:sp>
        <p:nvSpPr>
          <p:cNvPr id="29" name="Text 20"/>
          <p:cNvSpPr txBox="1"/>
          <p:nvPr/>
        </p:nvSpPr>
        <p:spPr>
          <a:xfrm>
            <a:off x="1543507" y="3520440"/>
            <a:ext cx="50008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Leaflet map with color-coded markers</a:t>
            </a:r>
            <a:endParaRPr lang="en-US" sz="1000"/>
          </a:p>
        </p:txBody>
      </p:sp>
      <p:sp>
        <p:nvSpPr>
          <p:cNvPr id="30" name="Shape 21"/>
          <p:cNvSpPr/>
          <p:nvPr/>
        </p:nvSpPr>
        <p:spPr>
          <a:xfrm>
            <a:off x="694944" y="4019702"/>
            <a:ext cx="5924398" cy="780898"/>
          </a:xfrm>
          <a:prstGeom prst="roundRect">
            <a:avLst>
              <a:gd name="adj" fmla="val 11424"/>
            </a:avLst>
          </a:prstGeom>
          <a:solidFill>
            <a:srgbClr val="1E293B"/>
          </a:solidFill>
          <a:ln/>
        </p:spPr>
      </p:sp>
      <p:sp>
        <p:nvSpPr>
          <p:cNvPr id="31" name="Shape 22"/>
          <p:cNvSpPr/>
          <p:nvPr/>
        </p:nvSpPr>
        <p:spPr>
          <a:xfrm>
            <a:off x="694944" y="4019702"/>
            <a:ext cx="38405" cy="780898"/>
          </a:xfrm>
          <a:prstGeom prst="roundRect">
            <a:avLst>
              <a:gd name="adj" fmla="val 232287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923544" y="4196182"/>
            <a:ext cx="428854" cy="428854"/>
          </a:xfrm>
          <a:prstGeom prst="roundRect">
            <a:avLst>
              <a:gd name="adj" fmla="val 37906"/>
            </a:avLst>
          </a:prstGeom>
          <a:solidFill>
            <a:srgbClr val="0F17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1"/>
          <a:srcRect l="-1082" r="-1082"/>
          <a:stretch/>
        </p:blipFill>
        <p:spPr>
          <a:xfrm>
            <a:off x="1057046" y="4319626"/>
            <a:ext cx="161849" cy="181051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543507" y="4172407"/>
            <a:ext cx="5000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Parking</a:t>
            </a:r>
            <a:endParaRPr lang="en-US" sz="1300"/>
          </a:p>
        </p:txBody>
      </p:sp>
      <p:sp>
        <p:nvSpPr>
          <p:cNvPr id="35" name="Text 25"/>
          <p:cNvSpPr txBox="1"/>
          <p:nvPr/>
        </p:nvSpPr>
        <p:spPr>
          <a:xfrm>
            <a:off x="1543507" y="4454042"/>
            <a:ext cx="50008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 lots and select specific available slots</a:t>
            </a:r>
            <a:endParaRPr lang="en-US" sz="1000"/>
          </a:p>
        </p:txBody>
      </p:sp>
      <p:sp>
        <p:nvSpPr>
          <p:cNvPr id="36" name="Shape 26"/>
          <p:cNvSpPr/>
          <p:nvPr/>
        </p:nvSpPr>
        <p:spPr>
          <a:xfrm>
            <a:off x="694944" y="4953305"/>
            <a:ext cx="5924398" cy="780898"/>
          </a:xfrm>
          <a:prstGeom prst="roundRect">
            <a:avLst>
              <a:gd name="adj" fmla="val 11424"/>
            </a:avLst>
          </a:prstGeom>
          <a:solidFill>
            <a:srgbClr val="1E293B"/>
          </a:solidFill>
          <a:ln/>
        </p:spPr>
      </p:sp>
      <p:sp>
        <p:nvSpPr>
          <p:cNvPr id="37" name="Shape 27"/>
          <p:cNvSpPr/>
          <p:nvPr/>
        </p:nvSpPr>
        <p:spPr>
          <a:xfrm>
            <a:off x="694944" y="4953305"/>
            <a:ext cx="38405" cy="780898"/>
          </a:xfrm>
          <a:prstGeom prst="roundRect">
            <a:avLst>
              <a:gd name="adj" fmla="val 232287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923544" y="5128870"/>
            <a:ext cx="428854" cy="428854"/>
          </a:xfrm>
          <a:prstGeom prst="roundRect">
            <a:avLst>
              <a:gd name="adj" fmla="val 37906"/>
            </a:avLst>
          </a:prstGeom>
          <a:solidFill>
            <a:srgbClr val="0F17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2"/>
          <a:srcRect l="-1082" r="-1082"/>
          <a:stretch/>
        </p:blipFill>
        <p:spPr>
          <a:xfrm>
            <a:off x="1057046" y="5253228"/>
            <a:ext cx="161849" cy="181051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543507" y="5105095"/>
            <a:ext cx="5000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Reservations</a:t>
            </a:r>
            <a:endParaRPr lang="en-US" sz="1300"/>
          </a:p>
        </p:txBody>
      </p:sp>
      <p:sp>
        <p:nvSpPr>
          <p:cNvPr id="41" name="Text 30"/>
          <p:cNvSpPr txBox="1"/>
          <p:nvPr/>
        </p:nvSpPr>
        <p:spPr>
          <a:xfrm>
            <a:off x="1543507" y="5387645"/>
            <a:ext cx="50008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 active bookings &amp; "I'm Here" arrival trigger</a:t>
            </a:r>
            <a:endParaRPr lang="en-US" sz="1000"/>
          </a:p>
        </p:txBody>
      </p:sp>
      <p:sp>
        <p:nvSpPr>
          <p:cNvPr id="42" name="Shape 31"/>
          <p:cNvSpPr/>
          <p:nvPr/>
        </p:nvSpPr>
        <p:spPr>
          <a:xfrm>
            <a:off x="694944" y="5886907"/>
            <a:ext cx="5924398" cy="780898"/>
          </a:xfrm>
          <a:prstGeom prst="roundRect">
            <a:avLst>
              <a:gd name="adj" fmla="val 11424"/>
            </a:avLst>
          </a:prstGeom>
          <a:solidFill>
            <a:srgbClr val="1E293B"/>
          </a:solidFill>
          <a:ln/>
        </p:spPr>
      </p:sp>
      <p:sp>
        <p:nvSpPr>
          <p:cNvPr id="43" name="Shape 32"/>
          <p:cNvSpPr/>
          <p:nvPr/>
        </p:nvSpPr>
        <p:spPr>
          <a:xfrm>
            <a:off x="694944" y="5886907"/>
            <a:ext cx="38405" cy="780898"/>
          </a:xfrm>
          <a:prstGeom prst="roundRect">
            <a:avLst>
              <a:gd name="adj" fmla="val 232287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923544" y="6062472"/>
            <a:ext cx="428854" cy="428854"/>
          </a:xfrm>
          <a:prstGeom prst="roundRect">
            <a:avLst>
              <a:gd name="adj" fmla="val 37906"/>
            </a:avLst>
          </a:prstGeom>
          <a:solidFill>
            <a:srgbClr val="0F172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3"/>
          <a:srcRect l="-1403" r="-1403"/>
          <a:stretch/>
        </p:blipFill>
        <p:spPr>
          <a:xfrm>
            <a:off x="1033272" y="6186830"/>
            <a:ext cx="209398" cy="181051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1543507" y="6038698"/>
            <a:ext cx="50008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</a:t>
            </a:r>
            <a:endParaRPr lang="en-US" sz="1300"/>
          </a:p>
        </p:txBody>
      </p:sp>
      <p:sp>
        <p:nvSpPr>
          <p:cNvPr id="47" name="Text 35"/>
          <p:cNvSpPr txBox="1"/>
          <p:nvPr/>
        </p:nvSpPr>
        <p:spPr>
          <a:xfrm>
            <a:off x="1543507" y="6320333"/>
            <a:ext cx="50008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System logs and MQTT message tracking</a:t>
            </a:r>
            <a:endParaRPr lang="en-US" sz="1000"/>
          </a:p>
        </p:txBody>
      </p:sp>
      <p:sp>
        <p:nvSpPr>
          <p:cNvPr id="48" name="Shape 36"/>
          <p:cNvSpPr/>
          <p:nvPr/>
        </p:nvSpPr>
        <p:spPr>
          <a:xfrm>
            <a:off x="7162495" y="1238098"/>
            <a:ext cx="4572000" cy="2723998"/>
          </a:xfrm>
          <a:prstGeom prst="roundRect">
            <a:avLst>
              <a:gd name="adj" fmla="val 1408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7162495" y="1238098"/>
            <a:ext cx="4572000" cy="38405"/>
          </a:xfrm>
          <a:prstGeom prst="roundRect">
            <a:avLst>
              <a:gd name="adj" fmla="val 99900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7401154" y="1877263"/>
            <a:ext cx="4095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7401154" y="1516075"/>
            <a:ext cx="200254" cy="228600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7753198" y="1505102"/>
            <a:ext cx="168432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Updates</a:t>
            </a:r>
            <a:endParaRPr lang="en-US" sz="130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5"/>
          <a:srcRect l="-2512" r="-2512"/>
          <a:stretch/>
        </p:blipFill>
        <p:spPr>
          <a:xfrm>
            <a:off x="7401154" y="2167128"/>
            <a:ext cx="105156" cy="13350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7619695" y="2136953"/>
            <a:ext cx="3991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WebSocket Connection</a:t>
            </a:r>
            <a:endParaRPr lang="en-US" sz="1000"/>
          </a:p>
        </p:txBody>
      </p:sp>
      <p:sp>
        <p:nvSpPr>
          <p:cNvPr id="55" name="Text 41"/>
          <p:cNvSpPr txBox="1"/>
          <p:nvPr/>
        </p:nvSpPr>
        <p:spPr>
          <a:xfrm>
            <a:off x="7619695" y="2358238"/>
            <a:ext cx="3991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state reflection via Socket.IO</a:t>
            </a:r>
            <a:endParaRPr lang="en-US" sz="90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6"/>
          <a:srcRect l="-2838" r="-2838"/>
          <a:stretch/>
        </p:blipFill>
        <p:spPr>
          <a:xfrm>
            <a:off x="7401154" y="2723998"/>
            <a:ext cx="123444" cy="133502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7638898" y="2692908"/>
            <a:ext cx="39721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Toast Notifications</a:t>
            </a:r>
            <a:endParaRPr lang="en-US" sz="1000"/>
          </a:p>
        </p:txBody>
      </p:sp>
      <p:sp>
        <p:nvSpPr>
          <p:cNvPr id="58" name="Text 43"/>
          <p:cNvSpPr txBox="1"/>
          <p:nvPr/>
        </p:nvSpPr>
        <p:spPr>
          <a:xfrm>
            <a:off x="7638898" y="2914193"/>
            <a:ext cx="3972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Alerts for "Vehicle Detected" or "Confirmed"</a:t>
            </a:r>
            <a:endParaRPr lang="en-US" sz="90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401154" y="3279953"/>
            <a:ext cx="133502" cy="133502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7648956" y="3249778"/>
            <a:ext cx="3963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Auto-Refresh</a:t>
            </a:r>
            <a:endParaRPr lang="en-US" sz="1000"/>
          </a:p>
        </p:txBody>
      </p:sp>
      <p:sp>
        <p:nvSpPr>
          <p:cNvPr id="61" name="Text 45"/>
          <p:cNvSpPr txBox="1"/>
          <p:nvPr/>
        </p:nvSpPr>
        <p:spPr>
          <a:xfrm>
            <a:off x="7648956" y="3470148"/>
            <a:ext cx="3963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slot availability without page reload</a:t>
            </a:r>
            <a:endParaRPr lang="en-US" sz="900"/>
          </a:p>
        </p:txBody>
      </p:sp>
      <p:sp>
        <p:nvSpPr>
          <p:cNvPr id="62" name="Shape 46"/>
          <p:cNvSpPr/>
          <p:nvPr/>
        </p:nvSpPr>
        <p:spPr>
          <a:xfrm>
            <a:off x="7162495" y="4186123"/>
            <a:ext cx="4572000" cy="2667969"/>
          </a:xfrm>
          <a:prstGeom prst="roundRect">
            <a:avLst>
              <a:gd name="adj" fmla="val 1408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7162495" y="4186123"/>
            <a:ext cx="4572000" cy="38405"/>
          </a:xfrm>
          <a:prstGeom prst="roundRect">
            <a:avLst>
              <a:gd name="adj" fmla="val 99900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64" name="Shape 48"/>
          <p:cNvSpPr/>
          <p:nvPr/>
        </p:nvSpPr>
        <p:spPr>
          <a:xfrm>
            <a:off x="7401154" y="4825289"/>
            <a:ext cx="40955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8"/>
          <a:srcRect l="-133" r="-133"/>
          <a:stretch/>
        </p:blipFill>
        <p:spPr>
          <a:xfrm>
            <a:off x="7401154" y="4464101"/>
            <a:ext cx="171907" cy="228600"/>
          </a:xfrm>
          <a:prstGeom prst="rect">
            <a:avLst/>
          </a:prstGeom>
        </p:spPr>
      </p:pic>
      <p:sp>
        <p:nvSpPr>
          <p:cNvPr id="66" name="Text 49"/>
          <p:cNvSpPr txBox="1"/>
          <p:nvPr/>
        </p:nvSpPr>
        <p:spPr>
          <a:xfrm>
            <a:off x="7724851" y="4453128"/>
            <a:ext cx="2200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&amp; Interactive</a:t>
            </a:r>
            <a:endParaRPr lang="en-US" sz="1300"/>
          </a:p>
        </p:txBody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9"/>
          <a:srcRect l="-2838" r="-2838"/>
          <a:stretch/>
        </p:blipFill>
        <p:spPr>
          <a:xfrm>
            <a:off x="7401154" y="5115154"/>
            <a:ext cx="123444" cy="133502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7638898" y="5084978"/>
            <a:ext cx="39721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Mobile-First Design</a:t>
            </a:r>
            <a:endParaRPr lang="en-US" sz="1000"/>
          </a:p>
        </p:txBody>
      </p:sp>
      <p:sp>
        <p:nvSpPr>
          <p:cNvPr id="69" name="Text 51"/>
          <p:cNvSpPr txBox="1"/>
          <p:nvPr/>
        </p:nvSpPr>
        <p:spPr>
          <a:xfrm>
            <a:off x="7638898" y="5306263"/>
            <a:ext cx="3972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Touch-optimized controls for smartphones</a:t>
            </a:r>
            <a:endParaRPr lang="en-US" sz="900"/>
          </a:p>
        </p:txBody>
      </p:sp>
      <p:pic>
        <p:nvPicPr>
          <p:cNvPr id="70" name="Image 16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401154" y="5671109"/>
            <a:ext cx="133502" cy="133502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7648956" y="5640934"/>
            <a:ext cx="3963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Indicators</a:t>
            </a:r>
            <a:endParaRPr lang="en-US" sz="1000"/>
          </a:p>
        </p:txBody>
      </p:sp>
      <p:sp>
        <p:nvSpPr>
          <p:cNvPr id="72" name="Text 53"/>
          <p:cNvSpPr txBox="1"/>
          <p:nvPr/>
        </p:nvSpPr>
        <p:spPr>
          <a:xfrm>
            <a:off x="7648956" y="5862218"/>
            <a:ext cx="3963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Green/Red/Yellow status color coding</a:t>
            </a:r>
            <a:endParaRPr lang="en-US" sz="900"/>
          </a:p>
        </p:txBody>
      </p:sp>
      <p:pic>
        <p:nvPicPr>
          <p:cNvPr id="73" name="Image 17" descr="preencoded.png"/>
          <p:cNvPicPr>
            <a:picLocks noChangeAspect="1"/>
          </p:cNvPicPr>
          <p:nvPr/>
        </p:nvPicPr>
        <p:blipFill>
          <a:blip r:embed="rId21"/>
          <a:srcRect l="-2838" r="-2838"/>
          <a:stretch/>
        </p:blipFill>
        <p:spPr>
          <a:xfrm>
            <a:off x="7401154" y="6227978"/>
            <a:ext cx="123444" cy="133502"/>
          </a:xfrm>
          <a:prstGeom prst="rect">
            <a:avLst/>
          </a:prstGeom>
        </p:spPr>
      </p:pic>
      <p:sp>
        <p:nvSpPr>
          <p:cNvPr id="74" name="Text 54"/>
          <p:cNvSpPr txBox="1"/>
          <p:nvPr/>
        </p:nvSpPr>
        <p:spPr>
          <a:xfrm>
            <a:off x="7638898" y="6197803"/>
            <a:ext cx="39721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Geolocation</a:t>
            </a:r>
            <a:endParaRPr lang="en-US" sz="1000"/>
          </a:p>
        </p:txBody>
      </p:sp>
      <p:sp>
        <p:nvSpPr>
          <p:cNvPr id="75" name="Text 55"/>
          <p:cNvSpPr txBox="1"/>
          <p:nvPr/>
        </p:nvSpPr>
        <p:spPr>
          <a:xfrm>
            <a:off x="7638898" y="6418174"/>
            <a:ext cx="3972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"Find Nearby" using browser GPS API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46">
            <a:extLst>
              <a:ext uri="{FF2B5EF4-FFF2-40B4-BE49-F238E27FC236}">
                <a16:creationId xmlns:a16="http://schemas.microsoft.com/office/drawing/2014/main" id="{C23AB9DF-E2DC-251B-2B53-72B2F4FB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15400" y="4533595"/>
            <a:ext cx="2800807" cy="28008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52805" y="228600"/>
            <a:ext cx="305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Live Demo — Flow </a:t>
            </a:r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rcRect l="-50" r="-50"/>
          <a:stretch/>
        </p:blipFill>
        <p:spPr>
          <a:xfrm>
            <a:off x="457200" y="304495"/>
            <a:ext cx="342900" cy="304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457200" y="1162202"/>
            <a:ext cx="11277295" cy="2210105"/>
          </a:xfrm>
          <a:prstGeom prst="roundRect">
            <a:avLst>
              <a:gd name="adj" fmla="val 214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" y="1399946"/>
            <a:ext cx="10696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Demonstration Timeline </a:t>
            </a:r>
            <a:endParaRPr lang="en-US" sz="12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rcRect l="-3379" r="-3379"/>
          <a:stretch/>
        </p:blipFill>
        <p:spPr>
          <a:xfrm>
            <a:off x="694944" y="1438351"/>
            <a:ext cx="142646" cy="152705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rcRect l="-422" r="-422"/>
          <a:stretch/>
        </p:blipFill>
        <p:spPr>
          <a:xfrm>
            <a:off x="2486254" y="2144268"/>
            <a:ext cx="1314907" cy="2834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422" r="-422"/>
          <a:stretch/>
        </p:blipFill>
        <p:spPr>
          <a:xfrm>
            <a:off x="5438851" y="2144268"/>
            <a:ext cx="1314907" cy="28346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rcRect l="-422" r="-422"/>
          <a:stretch/>
        </p:blipFill>
        <p:spPr>
          <a:xfrm>
            <a:off x="8391449" y="2144268"/>
            <a:ext cx="1314907" cy="28346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457200" y="3592678"/>
            <a:ext cx="2676449" cy="3038551"/>
          </a:xfrm>
          <a:prstGeom prst="roundRect">
            <a:avLst>
              <a:gd name="adj" fmla="val 973"/>
            </a:avLst>
          </a:prstGeom>
          <a:solidFill>
            <a:srgbClr val="1E293B"/>
          </a:solidFill>
          <a:ln/>
        </p:spPr>
      </p:sp>
      <p:sp>
        <p:nvSpPr>
          <p:cNvPr id="18" name="Shape 9"/>
          <p:cNvSpPr/>
          <p:nvPr/>
        </p:nvSpPr>
        <p:spPr>
          <a:xfrm>
            <a:off x="457200" y="3592678"/>
            <a:ext cx="2676449" cy="38405"/>
          </a:xfrm>
          <a:prstGeom prst="roundRect">
            <a:avLst>
              <a:gd name="adj" fmla="val 67785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2764231" y="3726180"/>
            <a:ext cx="352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600"/>
          </a:p>
        </p:txBody>
      </p:sp>
      <p:sp>
        <p:nvSpPr>
          <p:cNvPr id="20" name="Shape 11"/>
          <p:cNvSpPr/>
          <p:nvPr/>
        </p:nvSpPr>
        <p:spPr>
          <a:xfrm>
            <a:off x="647395" y="4126687"/>
            <a:ext cx="22951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395" y="3849624"/>
            <a:ext cx="171907" cy="171907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933602" y="3821278"/>
            <a:ext cx="9436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Init</a:t>
            </a:r>
            <a:endParaRPr lang="en-US" sz="1200"/>
          </a:p>
        </p:txBody>
      </p:sp>
      <p:sp>
        <p:nvSpPr>
          <p:cNvPr id="23" name="Text 13"/>
          <p:cNvSpPr txBox="1"/>
          <p:nvPr/>
        </p:nvSpPr>
        <p:spPr>
          <a:xfrm>
            <a:off x="647395" y="4288536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MQTT Broker </a:t>
            </a:r>
            <a:r>
              <a:rPr lang="en-US" sz="8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1883</a:t>
            </a:r>
            <a:endParaRPr lang="en-US" sz="1000"/>
          </a:p>
        </p:txBody>
      </p:sp>
      <p:sp>
        <p:nvSpPr>
          <p:cNvPr id="24" name="Text 14"/>
          <p:cNvSpPr txBox="1"/>
          <p:nvPr/>
        </p:nvSpPr>
        <p:spPr>
          <a:xfrm>
            <a:off x="647395" y="4590288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Web Server </a:t>
            </a:r>
            <a:r>
              <a:rPr lang="en-US" sz="8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3000</a:t>
            </a:r>
            <a:endParaRPr lang="en-US" sz="1000"/>
          </a:p>
        </p:txBody>
      </p:sp>
      <p:sp>
        <p:nvSpPr>
          <p:cNvPr id="25" name="Text 15"/>
          <p:cNvSpPr txBox="1"/>
          <p:nvPr/>
        </p:nvSpPr>
        <p:spPr>
          <a:xfrm>
            <a:off x="647395" y="4892040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 </a:t>
            </a: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Gateways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(6 Locks)</a:t>
            </a:r>
            <a:endParaRPr lang="en-US" sz="1000"/>
          </a:p>
        </p:txBody>
      </p:sp>
      <p:sp>
        <p:nvSpPr>
          <p:cNvPr id="26" name="Text 16"/>
          <p:cNvSpPr txBox="1"/>
          <p:nvPr/>
        </p:nvSpPr>
        <p:spPr>
          <a:xfrm>
            <a:off x="647395" y="5187391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auto-launch</a:t>
            </a:r>
            <a:endParaRPr lang="en-US" sz="1000"/>
          </a:p>
        </p:txBody>
      </p:sp>
      <p:sp>
        <p:nvSpPr>
          <p:cNvPr id="27" name="Shape 17"/>
          <p:cNvSpPr/>
          <p:nvPr/>
        </p:nvSpPr>
        <p:spPr>
          <a:xfrm>
            <a:off x="3323844" y="3592678"/>
            <a:ext cx="2676449" cy="3038551"/>
          </a:xfrm>
          <a:prstGeom prst="roundRect">
            <a:avLst>
              <a:gd name="adj" fmla="val 973"/>
            </a:avLst>
          </a:prstGeom>
          <a:solidFill>
            <a:srgbClr val="1E293B"/>
          </a:solidFill>
          <a:ln/>
        </p:spPr>
      </p:sp>
      <p:sp>
        <p:nvSpPr>
          <p:cNvPr id="28" name="Shape 18"/>
          <p:cNvSpPr/>
          <p:nvPr/>
        </p:nvSpPr>
        <p:spPr>
          <a:xfrm>
            <a:off x="3323844" y="3592678"/>
            <a:ext cx="2676449" cy="38405"/>
          </a:xfrm>
          <a:prstGeom prst="roundRect">
            <a:avLst>
              <a:gd name="adj" fmla="val 67785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5630875" y="3726180"/>
            <a:ext cx="352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600"/>
          </a:p>
        </p:txBody>
      </p:sp>
      <p:sp>
        <p:nvSpPr>
          <p:cNvPr id="30" name="Shape 20"/>
          <p:cNvSpPr/>
          <p:nvPr/>
        </p:nvSpPr>
        <p:spPr>
          <a:xfrm>
            <a:off x="3514954" y="4126687"/>
            <a:ext cx="22951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0"/>
          <a:srcRect t="-2222" b="-2222"/>
          <a:stretch/>
        </p:blipFill>
        <p:spPr>
          <a:xfrm>
            <a:off x="3514954" y="3849624"/>
            <a:ext cx="123444" cy="171907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3752698" y="3821278"/>
            <a:ext cx="1143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Booking Flow</a:t>
            </a:r>
            <a:endParaRPr lang="en-US" sz="1200"/>
          </a:p>
        </p:txBody>
      </p:sp>
      <p:sp>
        <p:nvSpPr>
          <p:cNvPr id="33" name="Text 22"/>
          <p:cNvSpPr txBox="1"/>
          <p:nvPr/>
        </p:nvSpPr>
        <p:spPr>
          <a:xfrm>
            <a:off x="3514954" y="4288536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</a:t>
            </a: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Downtown Lot A</a:t>
            </a:r>
            <a:endParaRPr lang="en-US" sz="1000"/>
          </a:p>
        </p:txBody>
      </p:sp>
      <p:sp>
        <p:nvSpPr>
          <p:cNvPr id="34" name="Text 23"/>
          <p:cNvSpPr txBox="1"/>
          <p:nvPr/>
        </p:nvSpPr>
        <p:spPr>
          <a:xfrm>
            <a:off x="3514954" y="4583887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Green Slot</a:t>
            </a:r>
            <a:endParaRPr lang="en-US" sz="1000"/>
          </a:p>
        </p:txBody>
      </p:sp>
      <p:sp>
        <p:nvSpPr>
          <p:cNvPr id="35" name="Text 24"/>
          <p:cNvSpPr txBox="1"/>
          <p:nvPr/>
        </p:nvSpPr>
        <p:spPr>
          <a:xfrm>
            <a:off x="3514954" y="4879238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Enter: </a:t>
            </a:r>
            <a:r>
              <a:rPr lang="en-US" sz="90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ABC-123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2h</a:t>
            </a:r>
            <a:endParaRPr lang="en-US" sz="1000"/>
          </a:p>
        </p:txBody>
      </p:sp>
      <p:sp>
        <p:nvSpPr>
          <p:cNvPr id="36" name="Text 25"/>
          <p:cNvSpPr txBox="1"/>
          <p:nvPr/>
        </p:nvSpPr>
        <p:spPr>
          <a:xfrm>
            <a:off x="3514954" y="5175504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Lock Arm Raises ⬆️</a:t>
            </a:r>
            <a:endParaRPr lang="en-US" sz="1000"/>
          </a:p>
        </p:txBody>
      </p:sp>
      <p:sp>
        <p:nvSpPr>
          <p:cNvPr id="37" name="Shape 26"/>
          <p:cNvSpPr/>
          <p:nvPr/>
        </p:nvSpPr>
        <p:spPr>
          <a:xfrm>
            <a:off x="6191402" y="3592678"/>
            <a:ext cx="2676449" cy="3038551"/>
          </a:xfrm>
          <a:prstGeom prst="roundRect">
            <a:avLst>
              <a:gd name="adj" fmla="val 973"/>
            </a:avLst>
          </a:prstGeom>
          <a:solidFill>
            <a:srgbClr val="1E293B"/>
          </a:solidFill>
          <a:ln/>
        </p:spPr>
      </p:sp>
      <p:sp>
        <p:nvSpPr>
          <p:cNvPr id="38" name="Shape 27"/>
          <p:cNvSpPr/>
          <p:nvPr/>
        </p:nvSpPr>
        <p:spPr>
          <a:xfrm>
            <a:off x="6191402" y="3592678"/>
            <a:ext cx="2676449" cy="38405"/>
          </a:xfrm>
          <a:prstGeom prst="roundRect">
            <a:avLst>
              <a:gd name="adj" fmla="val 67785"/>
            </a:avLst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8498434" y="3726180"/>
            <a:ext cx="352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600"/>
          </a:p>
        </p:txBody>
      </p:sp>
      <p:sp>
        <p:nvSpPr>
          <p:cNvPr id="40" name="Shape 29"/>
          <p:cNvSpPr/>
          <p:nvPr/>
        </p:nvSpPr>
        <p:spPr>
          <a:xfrm>
            <a:off x="6381598" y="4126687"/>
            <a:ext cx="22951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1"/>
          <a:srcRect t="-2222" b="-2222"/>
          <a:stretch/>
        </p:blipFill>
        <p:spPr>
          <a:xfrm>
            <a:off x="6381598" y="3849624"/>
            <a:ext cx="123444" cy="171907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620256" y="3821278"/>
            <a:ext cx="10387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Park Vehicle</a:t>
            </a:r>
            <a:endParaRPr lang="en-US" sz="1200"/>
          </a:p>
        </p:txBody>
      </p:sp>
      <p:sp>
        <p:nvSpPr>
          <p:cNvPr id="43" name="Text 31"/>
          <p:cNvSpPr txBox="1"/>
          <p:nvPr/>
        </p:nvSpPr>
        <p:spPr>
          <a:xfrm>
            <a:off x="6381598" y="4288536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</a:t>
            </a:r>
            <a:r>
              <a:rPr lang="en-US" sz="1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"I'm Here"</a:t>
            </a: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button</a:t>
            </a:r>
            <a:endParaRPr lang="en-US" sz="1000"/>
          </a:p>
        </p:txBody>
      </p:sp>
      <p:sp>
        <p:nvSpPr>
          <p:cNvPr id="44" name="Text 32"/>
          <p:cNvSpPr txBox="1"/>
          <p:nvPr/>
        </p:nvSpPr>
        <p:spPr>
          <a:xfrm>
            <a:off x="6381598" y="4583887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Lock Arm Lowers ⬇️</a:t>
            </a:r>
            <a:endParaRPr lang="en-US" sz="1000"/>
          </a:p>
        </p:txBody>
      </p:sp>
      <p:sp>
        <p:nvSpPr>
          <p:cNvPr id="45" name="Text 33"/>
          <p:cNvSpPr txBox="1"/>
          <p:nvPr/>
        </p:nvSpPr>
        <p:spPr>
          <a:xfrm>
            <a:off x="6381598" y="4879238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Magnetic Sensor Detects</a:t>
            </a:r>
            <a:endParaRPr lang="en-US" sz="1000"/>
          </a:p>
        </p:txBody>
      </p:sp>
      <p:sp>
        <p:nvSpPr>
          <p:cNvPr id="46" name="Text 34"/>
          <p:cNvSpPr txBox="1"/>
          <p:nvPr/>
        </p:nvSpPr>
        <p:spPr>
          <a:xfrm>
            <a:off x="6381598" y="5175504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Status: </a:t>
            </a:r>
            <a:r>
              <a:rPr lang="en-US" sz="1000" b="1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Occupied</a:t>
            </a:r>
            <a:endParaRPr lang="en-US" sz="1000"/>
          </a:p>
        </p:txBody>
      </p:sp>
      <p:sp>
        <p:nvSpPr>
          <p:cNvPr id="47" name="Shape 35"/>
          <p:cNvSpPr/>
          <p:nvPr/>
        </p:nvSpPr>
        <p:spPr>
          <a:xfrm>
            <a:off x="9058046" y="3592678"/>
            <a:ext cx="2676449" cy="3038551"/>
          </a:xfrm>
          <a:prstGeom prst="roundRect">
            <a:avLst>
              <a:gd name="adj" fmla="val 973"/>
            </a:avLst>
          </a:prstGeom>
          <a:solidFill>
            <a:srgbClr val="1E293B"/>
          </a:solidFill>
          <a:ln/>
        </p:spPr>
      </p:sp>
      <p:sp>
        <p:nvSpPr>
          <p:cNvPr id="48" name="Shape 36"/>
          <p:cNvSpPr/>
          <p:nvPr/>
        </p:nvSpPr>
        <p:spPr>
          <a:xfrm>
            <a:off x="9058046" y="3592678"/>
            <a:ext cx="2676449" cy="38405"/>
          </a:xfrm>
          <a:prstGeom prst="roundRect">
            <a:avLst>
              <a:gd name="adj" fmla="val 67785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11365078" y="3726180"/>
            <a:ext cx="3529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>
                    <a:alpha val="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3600"/>
          </a:p>
        </p:txBody>
      </p:sp>
      <p:sp>
        <p:nvSpPr>
          <p:cNvPr id="50" name="Shape 38"/>
          <p:cNvSpPr/>
          <p:nvPr/>
        </p:nvSpPr>
        <p:spPr>
          <a:xfrm>
            <a:off x="9249156" y="4126687"/>
            <a:ext cx="22951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249156" y="3849624"/>
            <a:ext cx="171907" cy="171907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9534449" y="3821278"/>
            <a:ext cx="1239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Data</a:t>
            </a:r>
            <a:endParaRPr lang="en-US" sz="1200"/>
          </a:p>
        </p:txBody>
      </p:sp>
      <p:sp>
        <p:nvSpPr>
          <p:cNvPr id="53" name="Text 40"/>
          <p:cNvSpPr txBox="1"/>
          <p:nvPr/>
        </p:nvSpPr>
        <p:spPr>
          <a:xfrm>
            <a:off x="9249156" y="4288536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 MQTT Messages</a:t>
            </a:r>
            <a:endParaRPr lang="en-US" sz="1000"/>
          </a:p>
        </p:txBody>
      </p:sp>
      <p:sp>
        <p:nvSpPr>
          <p:cNvPr id="54" name="Text 41"/>
          <p:cNvSpPr txBox="1"/>
          <p:nvPr/>
        </p:nvSpPr>
        <p:spPr>
          <a:xfrm>
            <a:off x="9249156" y="4583887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Battery &amp; Signal stats</a:t>
            </a:r>
            <a:endParaRPr lang="en-US" sz="1000"/>
          </a:p>
        </p:txBody>
      </p:sp>
      <p:sp>
        <p:nvSpPr>
          <p:cNvPr id="55" name="Text 42"/>
          <p:cNvSpPr txBox="1"/>
          <p:nvPr/>
        </p:nvSpPr>
        <p:spPr>
          <a:xfrm>
            <a:off x="9249156" y="4879238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Heartbeat (30s interval)</a:t>
            </a:r>
            <a:endParaRPr lang="en-US" sz="1000"/>
          </a:p>
        </p:txBody>
      </p:sp>
      <p:sp>
        <p:nvSpPr>
          <p:cNvPr id="56" name="Text 43"/>
          <p:cNvSpPr txBox="1"/>
          <p:nvPr/>
        </p:nvSpPr>
        <p:spPr>
          <a:xfrm>
            <a:off x="9249156" y="5175504"/>
            <a:ext cx="2387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Departure → </a:t>
            </a:r>
            <a:r>
              <a:rPr lang="en-US" sz="10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</a:t>
            </a:r>
            <a:endParaRPr lang="en-US" sz="1000"/>
          </a:p>
        </p:txBody>
      </p:sp>
      <p:sp>
        <p:nvSpPr>
          <p:cNvPr id="57" name="Text 44"/>
          <p:cNvSpPr txBox="1"/>
          <p:nvPr/>
        </p:nvSpPr>
        <p:spPr>
          <a:xfrm>
            <a:off x="1324966" y="263804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</a:t>
            </a:r>
            <a:endParaRPr lang="en-US" sz="1200"/>
          </a:p>
        </p:txBody>
      </p:sp>
      <p:sp>
        <p:nvSpPr>
          <p:cNvPr id="58" name="Shape 45"/>
          <p:cNvSpPr/>
          <p:nvPr/>
        </p:nvSpPr>
        <p:spPr>
          <a:xfrm>
            <a:off x="1371600" y="2905049"/>
            <a:ext cx="599846" cy="228600"/>
          </a:xfrm>
          <a:prstGeom prst="rect">
            <a:avLst/>
          </a:prstGeom>
          <a:noFill/>
          <a:ln/>
        </p:spPr>
      </p:sp>
      <p:sp>
        <p:nvSpPr>
          <p:cNvPr id="59" name="Text 46"/>
          <p:cNvSpPr/>
          <p:nvPr/>
        </p:nvSpPr>
        <p:spPr>
          <a:xfrm>
            <a:off x="1371600" y="2905049"/>
            <a:ext cx="600761" cy="228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Sec</a:t>
            </a:r>
            <a:endParaRPr lang="en-US" sz="900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333195" y="1857146"/>
            <a:ext cx="666598" cy="666598"/>
          </a:xfrm>
          <a:prstGeom prst="rect">
            <a:avLst/>
          </a:prstGeom>
        </p:spPr>
      </p:pic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533449" y="2057400"/>
            <a:ext cx="267005" cy="267005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4262018" y="2638044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</a:t>
            </a:r>
            <a:endParaRPr lang="en-US" sz="1200"/>
          </a:p>
        </p:txBody>
      </p:sp>
      <p:sp>
        <p:nvSpPr>
          <p:cNvPr id="63" name="Shape 48"/>
          <p:cNvSpPr/>
          <p:nvPr/>
        </p:nvSpPr>
        <p:spPr>
          <a:xfrm>
            <a:off x="4360774" y="2905049"/>
            <a:ext cx="523951" cy="228600"/>
          </a:xfrm>
          <a:prstGeom prst="rect">
            <a:avLst/>
          </a:prstGeom>
          <a:noFill/>
          <a:ln/>
        </p:spPr>
      </p:sp>
      <p:sp>
        <p:nvSpPr>
          <p:cNvPr id="64" name="Text 49"/>
          <p:cNvSpPr/>
          <p:nvPr/>
        </p:nvSpPr>
        <p:spPr>
          <a:xfrm>
            <a:off x="4360774" y="2905049"/>
            <a:ext cx="523951" cy="228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Min</a:t>
            </a:r>
            <a:endParaRPr lang="en-US" sz="90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286707" y="1857146"/>
            <a:ext cx="666598" cy="666598"/>
          </a:xfrm>
          <a:prstGeom prst="rect">
            <a:avLst/>
          </a:prstGeom>
        </p:spPr>
      </p:pic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16"/>
          <a:srcRect l="-881" r="-881"/>
          <a:stretch/>
        </p:blipFill>
        <p:spPr>
          <a:xfrm>
            <a:off x="4500677" y="2057400"/>
            <a:ext cx="237744" cy="267005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7262165" y="2638044"/>
            <a:ext cx="623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Arrival</a:t>
            </a:r>
            <a:endParaRPr lang="en-US" sz="1200"/>
          </a:p>
        </p:txBody>
      </p:sp>
      <p:sp>
        <p:nvSpPr>
          <p:cNvPr id="68" name="Shape 51"/>
          <p:cNvSpPr/>
          <p:nvPr/>
        </p:nvSpPr>
        <p:spPr>
          <a:xfrm>
            <a:off x="7313371" y="2905049"/>
            <a:ext cx="523951" cy="228600"/>
          </a:xfrm>
          <a:prstGeom prst="rect">
            <a:avLst/>
          </a:prstGeom>
          <a:noFill/>
          <a:ln/>
        </p:spPr>
      </p:sp>
      <p:sp>
        <p:nvSpPr>
          <p:cNvPr id="69" name="Text 52"/>
          <p:cNvSpPr/>
          <p:nvPr/>
        </p:nvSpPr>
        <p:spPr>
          <a:xfrm>
            <a:off x="7313371" y="2905049"/>
            <a:ext cx="523951" cy="228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Min</a:t>
            </a:r>
            <a:endParaRPr lang="en-US" sz="900"/>
          </a:p>
        </p:txBody>
      </p:sp>
      <p:pic>
        <p:nvPicPr>
          <p:cNvPr id="70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239305" y="1857146"/>
            <a:ext cx="666598" cy="666598"/>
          </a:xfrm>
          <a:prstGeom prst="rect">
            <a:avLst/>
          </a:prstGeom>
        </p:spPr>
      </p:pic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405726" y="2057400"/>
            <a:ext cx="333756" cy="267005"/>
          </a:xfrm>
          <a:prstGeom prst="rect">
            <a:avLst/>
          </a:prstGeom>
        </p:spPr>
      </p:pic>
      <p:sp>
        <p:nvSpPr>
          <p:cNvPr id="72" name="Text 53"/>
          <p:cNvSpPr txBox="1"/>
          <p:nvPr/>
        </p:nvSpPr>
        <p:spPr>
          <a:xfrm>
            <a:off x="10173614" y="2638044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</a:t>
            </a:r>
            <a:endParaRPr lang="en-US" sz="1200"/>
          </a:p>
        </p:txBody>
      </p:sp>
      <p:sp>
        <p:nvSpPr>
          <p:cNvPr id="73" name="Shape 54"/>
          <p:cNvSpPr/>
          <p:nvPr/>
        </p:nvSpPr>
        <p:spPr>
          <a:xfrm>
            <a:off x="10229393" y="2905049"/>
            <a:ext cx="599846" cy="228600"/>
          </a:xfrm>
          <a:prstGeom prst="rect">
            <a:avLst/>
          </a:prstGeom>
          <a:noFill/>
          <a:ln/>
        </p:spPr>
      </p:sp>
      <p:sp>
        <p:nvSpPr>
          <p:cNvPr id="74" name="Text 55"/>
          <p:cNvSpPr/>
          <p:nvPr/>
        </p:nvSpPr>
        <p:spPr>
          <a:xfrm>
            <a:off x="10229393" y="2905049"/>
            <a:ext cx="600761" cy="228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Sec</a:t>
            </a:r>
            <a:endParaRPr lang="en-US" sz="900"/>
          </a:p>
        </p:txBody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0191902" y="1857146"/>
            <a:ext cx="666598" cy="666598"/>
          </a:xfrm>
          <a:prstGeom prst="rect">
            <a:avLst/>
          </a:prstGeom>
        </p:spPr>
      </p:pic>
      <p:pic>
        <p:nvPicPr>
          <p:cNvPr id="76" name="Image 18" descr="preencoded.png"/>
          <p:cNvPicPr>
            <a:picLocks noChangeAspect="1"/>
          </p:cNvPicPr>
          <p:nvPr/>
        </p:nvPicPr>
        <p:blipFill>
          <a:blip r:embed="rId20"/>
          <a:srcRect l="-685" r="-685"/>
          <a:stretch/>
        </p:blipFill>
        <p:spPr>
          <a:xfrm>
            <a:off x="10372954" y="2057400"/>
            <a:ext cx="304495" cy="2670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831" b="-1831"/>
          <a:stretch/>
        </p:blipFill>
        <p:spPr>
          <a:xfrm>
            <a:off x="8391449" y="3905402"/>
            <a:ext cx="3514954" cy="32388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3429000"/>
            <a:ext cx="12191695" cy="914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38505" y="228600"/>
            <a:ext cx="4543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Achievements &amp; Takeaways </a:t>
            </a:r>
            <a:endParaRPr lang="en-US" sz="24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457200" y="304495"/>
            <a:ext cx="228600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0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457200" y="1390802"/>
            <a:ext cx="3556102" cy="2352751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94944" y="16285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60A5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790956" y="1752905"/>
            <a:ext cx="286207" cy="22860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2982773" y="1628546"/>
            <a:ext cx="800100" cy="352044"/>
          </a:xfrm>
          <a:prstGeom prst="rect">
            <a:avLst/>
          </a:prstGeom>
          <a:noFill/>
          <a:ln/>
        </p:spPr>
      </p:sp>
      <p:sp>
        <p:nvSpPr>
          <p:cNvPr id="16" name="Text 8"/>
          <p:cNvSpPr/>
          <p:nvPr/>
        </p:nvSpPr>
        <p:spPr>
          <a:xfrm>
            <a:off x="3313786" y="1628546"/>
            <a:ext cx="469087" cy="35295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DONE </a:t>
            </a:r>
            <a:endParaRPr lang="en-US" sz="100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3114446" y="1735531"/>
            <a:ext cx="123444" cy="13350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694944" y="2257654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Integrated IoT Pipeline</a:t>
            </a:r>
            <a:endParaRPr lang="en-US" sz="1300"/>
          </a:p>
        </p:txBody>
      </p:sp>
      <p:sp>
        <p:nvSpPr>
          <p:cNvPr id="19" name="Text 10"/>
          <p:cNvSpPr txBox="1"/>
          <p:nvPr/>
        </p:nvSpPr>
        <p:spPr>
          <a:xfrm>
            <a:off x="694944" y="2596896"/>
            <a:ext cx="3162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connected 2 distinct device types (Locks + Gateways) establishing a robust edge-to-cloud data path.</a:t>
            </a:r>
            <a:endParaRPr lang="en-US" sz="100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4317797" y="1390802"/>
            <a:ext cx="3556102" cy="2352751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4556455" y="16285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679899" y="1752905"/>
            <a:ext cx="228600" cy="228600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6844284" y="1628546"/>
            <a:ext cx="800100" cy="352044"/>
          </a:xfrm>
          <a:prstGeom prst="rect">
            <a:avLst/>
          </a:prstGeom>
          <a:noFill/>
          <a:ln/>
        </p:spPr>
      </p:sp>
      <p:sp>
        <p:nvSpPr>
          <p:cNvPr id="24" name="Text 13"/>
          <p:cNvSpPr/>
          <p:nvPr/>
        </p:nvSpPr>
        <p:spPr>
          <a:xfrm>
            <a:off x="7175297" y="1628546"/>
            <a:ext cx="469087" cy="35295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DONE </a:t>
            </a:r>
            <a:endParaRPr lang="en-US" sz="100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6975043" y="1735531"/>
            <a:ext cx="123444" cy="133502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4556455" y="2257654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Monitoring</a:t>
            </a:r>
            <a:endParaRPr lang="en-US" sz="1300"/>
          </a:p>
        </p:txBody>
      </p:sp>
      <p:sp>
        <p:nvSpPr>
          <p:cNvPr id="27" name="Text 15"/>
          <p:cNvSpPr txBox="1"/>
          <p:nvPr/>
        </p:nvSpPr>
        <p:spPr>
          <a:xfrm>
            <a:off x="4556455" y="2596896"/>
            <a:ext cx="3162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Implemented low-latency communication using MQTT for devices and WebSocket dual-channel for the dashboard.</a:t>
            </a:r>
            <a:endParaRPr lang="en-US" sz="100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2"/>
          <a:srcRect t="-2" b="-2"/>
          <a:stretch/>
        </p:blipFill>
        <p:spPr>
          <a:xfrm>
            <a:off x="8178394" y="1390802"/>
            <a:ext cx="3556102" cy="2352751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8417052" y="1628546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8512150" y="1752905"/>
            <a:ext cx="286207" cy="22860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10704881" y="1628546"/>
            <a:ext cx="800100" cy="352044"/>
          </a:xfrm>
          <a:prstGeom prst="rect">
            <a:avLst/>
          </a:prstGeom>
          <a:noFill/>
          <a:ln/>
        </p:spPr>
      </p:sp>
      <p:sp>
        <p:nvSpPr>
          <p:cNvPr id="32" name="Text 18"/>
          <p:cNvSpPr/>
          <p:nvPr/>
        </p:nvSpPr>
        <p:spPr>
          <a:xfrm>
            <a:off x="11035894" y="1628546"/>
            <a:ext cx="469087" cy="35295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DONE </a:t>
            </a:r>
            <a:endParaRPr lang="en-US" sz="100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10836554" y="1735531"/>
            <a:ext cx="123444" cy="133502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8417052" y="2257654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Enforcement</a:t>
            </a:r>
            <a:endParaRPr lang="en-US" sz="1300"/>
          </a:p>
        </p:txBody>
      </p:sp>
      <p:sp>
        <p:nvSpPr>
          <p:cNvPr id="35" name="Text 20"/>
          <p:cNvSpPr txBox="1"/>
          <p:nvPr/>
        </p:nvSpPr>
        <p:spPr>
          <a:xfrm>
            <a:off x="8417052" y="2596896"/>
            <a:ext cx="3162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autonomous logic for slot enforcement with physical lock simulation covering 4 distinct mechanical states.</a:t>
            </a:r>
            <a:endParaRPr lang="en-US" sz="100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457200" y="4048049"/>
            <a:ext cx="3556102" cy="2352751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694944" y="4286707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9302" y="4410151"/>
            <a:ext cx="228600" cy="2286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2982773" y="4286707"/>
            <a:ext cx="800100" cy="352044"/>
          </a:xfrm>
          <a:prstGeom prst="rect">
            <a:avLst/>
          </a:prstGeom>
          <a:noFill/>
          <a:ln/>
        </p:spPr>
      </p:sp>
      <p:sp>
        <p:nvSpPr>
          <p:cNvPr id="40" name="Text 23"/>
          <p:cNvSpPr/>
          <p:nvPr/>
        </p:nvSpPr>
        <p:spPr>
          <a:xfrm>
            <a:off x="3313786" y="4286707"/>
            <a:ext cx="469087" cy="35295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DONE </a:t>
            </a:r>
            <a:endParaRPr lang="en-US" sz="100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3114446" y="4392778"/>
            <a:ext cx="123444" cy="133502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694944" y="4914900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Lifecycle</a:t>
            </a:r>
            <a:endParaRPr lang="en-US" sz="1300"/>
          </a:p>
        </p:txBody>
      </p:sp>
      <p:sp>
        <p:nvSpPr>
          <p:cNvPr id="43" name="Text 25"/>
          <p:cNvSpPr txBox="1"/>
          <p:nvPr/>
        </p:nvSpPr>
        <p:spPr>
          <a:xfrm>
            <a:off x="694944" y="5254142"/>
            <a:ext cx="3162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Engineered end-to-end workflow handling booking, arrival detection, parking duration, and auto-release upon departure.</a:t>
            </a:r>
            <a:endParaRPr lang="en-US" sz="100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4317797" y="4048049"/>
            <a:ext cx="3556102" cy="2352751"/>
          </a:xfrm>
          <a:prstGeom prst="rect">
            <a:avLst/>
          </a:prstGeom>
        </p:spPr>
      </p:pic>
      <p:sp>
        <p:nvSpPr>
          <p:cNvPr id="45" name="Shape 26"/>
          <p:cNvSpPr/>
          <p:nvPr/>
        </p:nvSpPr>
        <p:spPr>
          <a:xfrm>
            <a:off x="4556455" y="4286707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15"/>
          <a:srcRect l="-133" r="-133"/>
          <a:stretch/>
        </p:blipFill>
        <p:spPr>
          <a:xfrm>
            <a:off x="4708246" y="4410151"/>
            <a:ext cx="171907" cy="228600"/>
          </a:xfrm>
          <a:prstGeom prst="rect">
            <a:avLst/>
          </a:prstGeom>
        </p:spPr>
      </p:pic>
      <p:sp>
        <p:nvSpPr>
          <p:cNvPr id="47" name="Shape 27"/>
          <p:cNvSpPr/>
          <p:nvPr/>
        </p:nvSpPr>
        <p:spPr>
          <a:xfrm>
            <a:off x="6844284" y="4286707"/>
            <a:ext cx="800100" cy="352044"/>
          </a:xfrm>
          <a:prstGeom prst="rect">
            <a:avLst/>
          </a:prstGeom>
          <a:noFill/>
          <a:ln/>
        </p:spPr>
      </p:sp>
      <p:sp>
        <p:nvSpPr>
          <p:cNvPr id="48" name="Text 28"/>
          <p:cNvSpPr/>
          <p:nvPr/>
        </p:nvSpPr>
        <p:spPr>
          <a:xfrm>
            <a:off x="7175297" y="4286707"/>
            <a:ext cx="469087" cy="35295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DONE </a:t>
            </a:r>
            <a:endParaRPr lang="en-US" sz="1000"/>
          </a:p>
        </p:txBody>
      </p:sp>
      <p:pic>
        <p:nvPicPr>
          <p:cNvPr id="49" name="Image 18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6975043" y="4392778"/>
            <a:ext cx="123444" cy="133502"/>
          </a:xfrm>
          <a:prstGeom prst="rect">
            <a:avLst/>
          </a:prstGeom>
        </p:spPr>
      </p:pic>
      <p:sp>
        <p:nvSpPr>
          <p:cNvPr id="50" name="Text 29"/>
          <p:cNvSpPr txBox="1"/>
          <p:nvPr/>
        </p:nvSpPr>
        <p:spPr>
          <a:xfrm>
            <a:off x="4556455" y="4914900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Compliance</a:t>
            </a:r>
            <a:endParaRPr lang="en-US" sz="1300"/>
          </a:p>
        </p:txBody>
      </p:sp>
      <p:sp>
        <p:nvSpPr>
          <p:cNvPr id="51" name="Text 30"/>
          <p:cNvSpPr txBox="1"/>
          <p:nvPr/>
        </p:nvSpPr>
        <p:spPr>
          <a:xfrm>
            <a:off x="4556455" y="5254142"/>
            <a:ext cx="3162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 all functional requirements including multi-sensor integration, interactive dashboard, and system visualization.</a:t>
            </a:r>
            <a:endParaRPr lang="en-US" sz="1000"/>
          </a:p>
        </p:txBody>
      </p:sp>
      <p:pic>
        <p:nvPicPr>
          <p:cNvPr id="52" name="Image 19" descr="preencoded.png"/>
          <p:cNvPicPr>
            <a:picLocks noChangeAspect="1"/>
          </p:cNvPicPr>
          <p:nvPr/>
        </p:nvPicPr>
        <p:blipFill>
          <a:blip r:embed="rId12"/>
          <a:srcRect t="-2" b="-2"/>
          <a:stretch/>
        </p:blipFill>
        <p:spPr>
          <a:xfrm>
            <a:off x="8178394" y="4048049"/>
            <a:ext cx="3556102" cy="2352751"/>
          </a:xfrm>
          <a:prstGeom prst="rect">
            <a:avLst/>
          </a:prstGeom>
        </p:spPr>
      </p:pic>
      <p:sp>
        <p:nvSpPr>
          <p:cNvPr id="53" name="Shape 31"/>
          <p:cNvSpPr/>
          <p:nvPr/>
        </p:nvSpPr>
        <p:spPr>
          <a:xfrm>
            <a:off x="8417052" y="4286707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472B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20" descr="preencoded.png"/>
          <p:cNvPicPr>
            <a:picLocks noChangeAspect="1"/>
          </p:cNvPicPr>
          <p:nvPr/>
        </p:nvPicPr>
        <p:blipFill>
          <a:blip r:embed="rId16"/>
          <a:srcRect t="-45" b="-45"/>
          <a:stretch/>
        </p:blipFill>
        <p:spPr>
          <a:xfrm>
            <a:off x="8526780" y="4410151"/>
            <a:ext cx="256946" cy="228600"/>
          </a:xfrm>
          <a:prstGeom prst="rect">
            <a:avLst/>
          </a:prstGeom>
        </p:spPr>
      </p:pic>
      <p:sp>
        <p:nvSpPr>
          <p:cNvPr id="55" name="Shape 32"/>
          <p:cNvSpPr/>
          <p:nvPr/>
        </p:nvSpPr>
        <p:spPr>
          <a:xfrm>
            <a:off x="10704881" y="4286707"/>
            <a:ext cx="800100" cy="352044"/>
          </a:xfrm>
          <a:prstGeom prst="rect">
            <a:avLst/>
          </a:prstGeom>
          <a:noFill/>
          <a:ln/>
        </p:spPr>
      </p:sp>
      <p:sp>
        <p:nvSpPr>
          <p:cNvPr id="56" name="Text 33"/>
          <p:cNvSpPr/>
          <p:nvPr/>
        </p:nvSpPr>
        <p:spPr>
          <a:xfrm>
            <a:off x="11035894" y="4286707"/>
            <a:ext cx="469087" cy="352958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>
                <a:alpha val="3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DONE </a:t>
            </a:r>
            <a:endParaRPr lang="en-US" sz="1000"/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10836554" y="4392778"/>
            <a:ext cx="123444" cy="133502"/>
          </a:xfrm>
          <a:prstGeom prst="rect">
            <a:avLst/>
          </a:prstGeom>
        </p:spPr>
      </p:pic>
      <p:sp>
        <p:nvSpPr>
          <p:cNvPr id="58" name="Text 34"/>
          <p:cNvSpPr txBox="1"/>
          <p:nvPr/>
        </p:nvSpPr>
        <p:spPr>
          <a:xfrm>
            <a:off x="8417052" y="4914900"/>
            <a:ext cx="3200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Architecture</a:t>
            </a:r>
            <a:endParaRPr lang="en-US" sz="1300"/>
          </a:p>
        </p:txBody>
      </p:sp>
      <p:sp>
        <p:nvSpPr>
          <p:cNvPr id="59" name="Text 35"/>
          <p:cNvSpPr txBox="1"/>
          <p:nvPr/>
        </p:nvSpPr>
        <p:spPr>
          <a:xfrm>
            <a:off x="8417052" y="5254142"/>
            <a:ext cx="31629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a scalable, component-based system design that decouples device simulation from backend logic, ready for production.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3202" y="4591202"/>
            <a:ext cx="2648102" cy="26481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933602"/>
          </a:xfrm>
          <a:prstGeom prst="rect">
            <a:avLst/>
          </a:prstGeom>
          <a:solidFill>
            <a:srgbClr val="0F172A">
              <a:alpha val="95000"/>
            </a:srgbClr>
          </a:solidFill>
          <a:ln/>
          <a:effectLst>
            <a:outerShdw blurRad="635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0" y="914400"/>
            <a:ext cx="12191695" cy="1920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228600"/>
            <a:ext cx="291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Future Directions </a:t>
            </a:r>
            <a:endParaRPr lang="en-US" sz="24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" y="304495"/>
            <a:ext cx="304495" cy="30449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551615" y="342900"/>
            <a:ext cx="26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rcRect t="-399" b="-399"/>
          <a:stretch/>
        </p:blipFill>
        <p:spPr>
          <a:xfrm>
            <a:off x="1950415" y="2414930"/>
            <a:ext cx="8290865" cy="384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457200" y="1390802"/>
            <a:ext cx="3556102" cy="5009998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66344" y="2705710"/>
            <a:ext cx="3543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1870862" y="1923898"/>
            <a:ext cx="733349" cy="267005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1870862" y="1923898"/>
            <a:ext cx="734263" cy="267005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2026</a:t>
            </a:r>
            <a:endParaRPr lang="en-US" sz="900"/>
          </a:p>
        </p:txBody>
      </p:sp>
      <p:sp>
        <p:nvSpPr>
          <p:cNvPr id="16" name="Text 9"/>
          <p:cNvSpPr txBox="1"/>
          <p:nvPr/>
        </p:nvSpPr>
        <p:spPr>
          <a:xfrm>
            <a:off x="1133856" y="2266798"/>
            <a:ext cx="22027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2: Expansion</a:t>
            </a:r>
            <a:endParaRPr lang="en-US" sz="1500"/>
          </a:p>
        </p:txBody>
      </p:sp>
      <p:sp>
        <p:nvSpPr>
          <p:cNvPr id="17" name="Shape 10"/>
          <p:cNvSpPr/>
          <p:nvPr/>
        </p:nvSpPr>
        <p:spPr>
          <a:xfrm>
            <a:off x="694944" y="294345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0898" y="3029407"/>
            <a:ext cx="133502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152144" y="2973629"/>
            <a:ext cx="220644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License Plate Recognition</a:t>
            </a:r>
            <a:endParaRPr lang="en-US" sz="1000"/>
          </a:p>
        </p:txBody>
      </p:sp>
      <p:sp>
        <p:nvSpPr>
          <p:cNvPr id="20" name="Text 12"/>
          <p:cNvSpPr txBox="1"/>
          <p:nvPr/>
        </p:nvSpPr>
        <p:spPr>
          <a:xfrm>
            <a:off x="1152144" y="3194914"/>
            <a:ext cx="22018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OpenALPR + Camera Integration</a:t>
            </a:r>
            <a:endParaRPr lang="en-US" sz="900"/>
          </a:p>
        </p:txBody>
      </p:sp>
      <p:sp>
        <p:nvSpPr>
          <p:cNvPr id="21" name="Shape 13"/>
          <p:cNvSpPr/>
          <p:nvPr/>
        </p:nvSpPr>
        <p:spPr>
          <a:xfrm>
            <a:off x="694944" y="356798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795528" y="3653942"/>
            <a:ext cx="105156" cy="1335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152144" y="3598164"/>
            <a:ext cx="17053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Mobile App</a:t>
            </a:r>
            <a:endParaRPr lang="en-US" sz="1000"/>
          </a:p>
        </p:txBody>
      </p:sp>
      <p:sp>
        <p:nvSpPr>
          <p:cNvPr id="24" name="Text 15"/>
          <p:cNvSpPr txBox="1"/>
          <p:nvPr/>
        </p:nvSpPr>
        <p:spPr>
          <a:xfrm>
            <a:off x="1152144" y="3819449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Native (iOS/Android)</a:t>
            </a:r>
            <a:endParaRPr lang="en-US" sz="900"/>
          </a:p>
        </p:txBody>
      </p:sp>
      <p:sp>
        <p:nvSpPr>
          <p:cNvPr id="25" name="Shape 16"/>
          <p:cNvSpPr/>
          <p:nvPr/>
        </p:nvSpPr>
        <p:spPr>
          <a:xfrm>
            <a:off x="694944" y="419252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771754" y="4278478"/>
            <a:ext cx="152705" cy="13350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152144" y="4222699"/>
            <a:ext cx="16102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Gateway</a:t>
            </a:r>
            <a:endParaRPr lang="en-US" sz="1000"/>
          </a:p>
        </p:txBody>
      </p:sp>
      <p:sp>
        <p:nvSpPr>
          <p:cNvPr id="28" name="Text 18"/>
          <p:cNvSpPr txBox="1"/>
          <p:nvPr/>
        </p:nvSpPr>
        <p:spPr>
          <a:xfrm>
            <a:off x="1152144" y="4443984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Stripe Integration</a:t>
            </a:r>
            <a:endParaRPr lang="en-US" sz="900"/>
          </a:p>
        </p:txBody>
      </p:sp>
      <p:sp>
        <p:nvSpPr>
          <p:cNvPr id="29" name="Shape 19"/>
          <p:cNvSpPr/>
          <p:nvPr/>
        </p:nvSpPr>
        <p:spPr>
          <a:xfrm>
            <a:off x="694944" y="481797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2"/>
          <a:srcRect l="-2838" r="-2838"/>
          <a:stretch/>
        </p:blipFill>
        <p:spPr>
          <a:xfrm>
            <a:off x="785470" y="4903013"/>
            <a:ext cx="123444" cy="133502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152144" y="4848149"/>
            <a:ext cx="19531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Migration</a:t>
            </a:r>
            <a:endParaRPr lang="en-US" sz="1000"/>
          </a:p>
        </p:txBody>
      </p:sp>
      <p:sp>
        <p:nvSpPr>
          <p:cNvPr id="32" name="Text 21"/>
          <p:cNvSpPr txBox="1"/>
          <p:nvPr/>
        </p:nvSpPr>
        <p:spPr>
          <a:xfrm>
            <a:off x="1152144" y="5068519"/>
            <a:ext cx="219730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Persistent Storage</a:t>
            </a:r>
            <a:endParaRPr lang="en-US" sz="90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3"/>
          <a:srcRect l="-4" r="-4"/>
          <a:stretch/>
        </p:blipFill>
        <p:spPr>
          <a:xfrm>
            <a:off x="4317797" y="1390802"/>
            <a:ext cx="3556102" cy="500999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4327855" y="2705710"/>
            <a:ext cx="3543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5732374" y="1923898"/>
            <a:ext cx="733349" cy="267005"/>
          </a:xfrm>
          <a:prstGeom prst="rect">
            <a:avLst/>
          </a:prstGeom>
          <a:noFill/>
          <a:ln/>
        </p:spPr>
      </p:sp>
      <p:sp>
        <p:nvSpPr>
          <p:cNvPr id="36" name="Text 24"/>
          <p:cNvSpPr/>
          <p:nvPr/>
        </p:nvSpPr>
        <p:spPr>
          <a:xfrm>
            <a:off x="5732374" y="1923898"/>
            <a:ext cx="734263" cy="267005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</a:t>
            </a:r>
            <a:endParaRPr lang="en-US" sz="900"/>
          </a:p>
        </p:txBody>
      </p:sp>
      <p:sp>
        <p:nvSpPr>
          <p:cNvPr id="37" name="Text 25"/>
          <p:cNvSpPr txBox="1"/>
          <p:nvPr/>
        </p:nvSpPr>
        <p:spPr>
          <a:xfrm>
            <a:off x="4867351" y="2266798"/>
            <a:ext cx="245973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3: Intelligence</a:t>
            </a:r>
            <a:endParaRPr lang="en-US" sz="1500"/>
          </a:p>
        </p:txBody>
      </p:sp>
      <p:sp>
        <p:nvSpPr>
          <p:cNvPr id="38" name="Shape 26"/>
          <p:cNvSpPr/>
          <p:nvPr/>
        </p:nvSpPr>
        <p:spPr>
          <a:xfrm>
            <a:off x="4556455" y="294345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641494" y="3029407"/>
            <a:ext cx="133502" cy="133502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013655" y="2973629"/>
            <a:ext cx="200162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Predictions</a:t>
            </a:r>
            <a:endParaRPr lang="en-US" sz="1000"/>
          </a:p>
        </p:txBody>
      </p:sp>
      <p:sp>
        <p:nvSpPr>
          <p:cNvPr id="41" name="Text 28"/>
          <p:cNvSpPr txBox="1"/>
          <p:nvPr/>
        </p:nvSpPr>
        <p:spPr>
          <a:xfrm>
            <a:off x="5013655" y="3194914"/>
            <a:ext cx="21259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Occupancy Forecasting Models</a:t>
            </a:r>
            <a:endParaRPr lang="en-US" sz="900"/>
          </a:p>
        </p:txBody>
      </p:sp>
      <p:sp>
        <p:nvSpPr>
          <p:cNvPr id="42" name="Shape 29"/>
          <p:cNvSpPr/>
          <p:nvPr/>
        </p:nvSpPr>
        <p:spPr>
          <a:xfrm>
            <a:off x="4556455" y="356798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641494" y="3653942"/>
            <a:ext cx="133502" cy="133502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5013655" y="3598164"/>
            <a:ext cx="1791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 Auto-Arrival</a:t>
            </a:r>
            <a:endParaRPr lang="en-US" sz="1000"/>
          </a:p>
        </p:txBody>
      </p:sp>
      <p:sp>
        <p:nvSpPr>
          <p:cNvPr id="45" name="Text 31"/>
          <p:cNvSpPr txBox="1"/>
          <p:nvPr/>
        </p:nvSpPr>
        <p:spPr>
          <a:xfrm>
            <a:off x="5013655" y="3819449"/>
            <a:ext cx="1971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Geofencing Detection Logic</a:t>
            </a:r>
            <a:endParaRPr lang="en-US" sz="900"/>
          </a:p>
        </p:txBody>
      </p:sp>
      <p:sp>
        <p:nvSpPr>
          <p:cNvPr id="46" name="Shape 32"/>
          <p:cNvSpPr/>
          <p:nvPr/>
        </p:nvSpPr>
        <p:spPr>
          <a:xfrm>
            <a:off x="4556455" y="419252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6"/>
          <a:srcRect l="-1507" r="-1507"/>
          <a:stretch/>
        </p:blipFill>
        <p:spPr>
          <a:xfrm>
            <a:off x="4623206" y="4278478"/>
            <a:ext cx="171907" cy="13350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5013655" y="4222699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Multi-Tenant Support</a:t>
            </a:r>
            <a:endParaRPr lang="en-US" sz="1000"/>
          </a:p>
        </p:txBody>
      </p:sp>
      <p:sp>
        <p:nvSpPr>
          <p:cNvPr id="49" name="Text 34"/>
          <p:cNvSpPr txBox="1"/>
          <p:nvPr/>
        </p:nvSpPr>
        <p:spPr>
          <a:xfrm>
            <a:off x="5013655" y="4443984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White-label SaaS Solution</a:t>
            </a:r>
            <a:endParaRPr lang="en-US" sz="900"/>
          </a:p>
        </p:txBody>
      </p:sp>
      <p:sp>
        <p:nvSpPr>
          <p:cNvPr id="50" name="Shape 35"/>
          <p:cNvSpPr/>
          <p:nvPr/>
        </p:nvSpPr>
        <p:spPr>
          <a:xfrm>
            <a:off x="4556455" y="481797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641494" y="4903013"/>
            <a:ext cx="133502" cy="133502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5013655" y="4848149"/>
            <a:ext cx="15343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</a:t>
            </a:r>
            <a:endParaRPr lang="en-US" sz="1000"/>
          </a:p>
        </p:txBody>
      </p:sp>
      <p:sp>
        <p:nvSpPr>
          <p:cNvPr id="53" name="Text 37"/>
          <p:cNvSpPr txBox="1"/>
          <p:nvPr/>
        </p:nvSpPr>
        <p:spPr>
          <a:xfrm>
            <a:off x="5013655" y="5068519"/>
            <a:ext cx="15947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IoT Core + Lambda</a:t>
            </a:r>
            <a:endParaRPr lang="en-US" sz="90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8"/>
          <a:srcRect l="-2" r="-2"/>
          <a:stretch/>
        </p:blipFill>
        <p:spPr>
          <a:xfrm>
            <a:off x="8178394" y="1390802"/>
            <a:ext cx="3556102" cy="5009998"/>
          </a:xfrm>
          <a:prstGeom prst="rect">
            <a:avLst/>
          </a:prstGeom>
        </p:spPr>
      </p:pic>
      <p:sp>
        <p:nvSpPr>
          <p:cNvPr id="55" name="Shape 38"/>
          <p:cNvSpPr/>
          <p:nvPr/>
        </p:nvSpPr>
        <p:spPr>
          <a:xfrm>
            <a:off x="8188452" y="2705710"/>
            <a:ext cx="3543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39"/>
          <p:cNvSpPr/>
          <p:nvPr/>
        </p:nvSpPr>
        <p:spPr>
          <a:xfrm>
            <a:off x="9352483" y="1923898"/>
            <a:ext cx="1209751" cy="267005"/>
          </a:xfrm>
          <a:prstGeom prst="rect">
            <a:avLst/>
          </a:prstGeom>
          <a:noFill/>
          <a:ln/>
        </p:spPr>
      </p:sp>
      <p:sp>
        <p:nvSpPr>
          <p:cNvPr id="57" name="Text 40"/>
          <p:cNvSpPr/>
          <p:nvPr/>
        </p:nvSpPr>
        <p:spPr>
          <a:xfrm>
            <a:off x="9352483" y="1923898"/>
            <a:ext cx="1209751" cy="267005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900"/>
          </a:p>
        </p:txBody>
      </p:sp>
      <p:sp>
        <p:nvSpPr>
          <p:cNvPr id="58" name="Text 41"/>
          <p:cNvSpPr txBox="1"/>
          <p:nvPr/>
        </p:nvSpPr>
        <p:spPr>
          <a:xfrm>
            <a:off x="8736178" y="2266798"/>
            <a:ext cx="24487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Integration</a:t>
            </a:r>
            <a:endParaRPr lang="en-US" sz="1500"/>
          </a:p>
        </p:txBody>
      </p:sp>
      <p:sp>
        <p:nvSpPr>
          <p:cNvPr id="59" name="Shape 42"/>
          <p:cNvSpPr/>
          <p:nvPr/>
        </p:nvSpPr>
        <p:spPr>
          <a:xfrm>
            <a:off x="8417052" y="294345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9"/>
          <a:srcRect l="-1507" r="-1507"/>
          <a:stretch/>
        </p:blipFill>
        <p:spPr>
          <a:xfrm>
            <a:off x="8483803" y="3029407"/>
            <a:ext cx="171907" cy="133502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874252" y="2973629"/>
            <a:ext cx="2734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LoRaWAN Devices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8874252" y="3194914"/>
            <a:ext cx="2705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 simulated locks with real IoT hardware</a:t>
            </a:r>
            <a:endParaRPr lang="en-US" sz="900"/>
          </a:p>
        </p:txBody>
      </p:sp>
      <p:sp>
        <p:nvSpPr>
          <p:cNvPr id="63" name="Shape 45"/>
          <p:cNvSpPr/>
          <p:nvPr/>
        </p:nvSpPr>
        <p:spPr>
          <a:xfrm>
            <a:off x="8417052" y="3750869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20"/>
          <a:srcRect l="-2838" r="-2838"/>
          <a:stretch/>
        </p:blipFill>
        <p:spPr>
          <a:xfrm>
            <a:off x="8507578" y="3836822"/>
            <a:ext cx="123444" cy="133502"/>
          </a:xfrm>
          <a:prstGeom prst="rect">
            <a:avLst/>
          </a:prstGeom>
        </p:spPr>
      </p:pic>
      <p:sp>
        <p:nvSpPr>
          <p:cNvPr id="65" name="Text 46"/>
          <p:cNvSpPr txBox="1"/>
          <p:nvPr/>
        </p:nvSpPr>
        <p:spPr>
          <a:xfrm>
            <a:off x="8874252" y="3781044"/>
            <a:ext cx="2734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Physical Sensors</a:t>
            </a:r>
            <a:endParaRPr lang="en-US" sz="1000"/>
          </a:p>
        </p:txBody>
      </p:sp>
      <p:sp>
        <p:nvSpPr>
          <p:cNvPr id="66" name="Text 47"/>
          <p:cNvSpPr txBox="1"/>
          <p:nvPr/>
        </p:nvSpPr>
        <p:spPr>
          <a:xfrm>
            <a:off x="8874252" y="4002329"/>
            <a:ext cx="2705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vehicle detection loops &amp; magnetometers</a:t>
            </a:r>
            <a:endParaRPr lang="en-US" sz="900"/>
          </a:p>
        </p:txBody>
      </p:sp>
      <p:sp>
        <p:nvSpPr>
          <p:cNvPr id="67" name="Shape 48"/>
          <p:cNvSpPr/>
          <p:nvPr/>
        </p:nvSpPr>
        <p:spPr>
          <a:xfrm>
            <a:off x="8417052" y="4558284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21"/>
          <a:srcRect l="-837" r="-837"/>
          <a:stretch/>
        </p:blipFill>
        <p:spPr>
          <a:xfrm>
            <a:off x="8492947" y="4644238"/>
            <a:ext cx="152705" cy="133502"/>
          </a:xfrm>
          <a:prstGeom prst="rect">
            <a:avLst/>
          </a:prstGeom>
        </p:spPr>
      </p:pic>
      <p:sp>
        <p:nvSpPr>
          <p:cNvPr id="69" name="Text 49"/>
          <p:cNvSpPr txBox="1"/>
          <p:nvPr/>
        </p:nvSpPr>
        <p:spPr>
          <a:xfrm>
            <a:off x="8874252" y="4589374"/>
            <a:ext cx="2734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 Communication</a:t>
            </a:r>
            <a:endParaRPr lang="en-US" sz="1000"/>
          </a:p>
        </p:txBody>
      </p:sp>
      <p:sp>
        <p:nvSpPr>
          <p:cNvPr id="70" name="Text 50"/>
          <p:cNvSpPr txBox="1"/>
          <p:nvPr/>
        </p:nvSpPr>
        <p:spPr>
          <a:xfrm>
            <a:off x="8874252" y="4809744"/>
            <a:ext cx="2705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433 MHz protocol (Gateway ↔ Locks)</a:t>
            </a:r>
            <a:endParaRPr lang="en-US" sz="900"/>
          </a:p>
        </p:txBody>
      </p:sp>
      <p:pic>
        <p:nvPicPr>
          <p:cNvPr id="71" name="Image 18" descr="preencoded.png"/>
          <p:cNvPicPr>
            <a:picLocks noChangeAspect="1"/>
          </p:cNvPicPr>
          <p:nvPr/>
        </p:nvPicPr>
        <p:blipFill>
          <a:blip r:embed="rId22"/>
          <a:srcRect t="-80" b="-80"/>
          <a:stretch/>
        </p:blipFill>
        <p:spPr>
          <a:xfrm>
            <a:off x="3992270" y="2414930"/>
            <a:ext cx="142646" cy="228600"/>
          </a:xfrm>
          <a:prstGeom prst="rect">
            <a:avLst/>
          </a:prstGeom>
        </p:spPr>
      </p:pic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22"/>
          <a:srcRect t="-80" b="-80"/>
          <a:stretch/>
        </p:blipFill>
        <p:spPr>
          <a:xfrm>
            <a:off x="8055864" y="2414930"/>
            <a:ext cx="142646" cy="228600"/>
          </a:xfrm>
          <a:prstGeom prst="rect">
            <a:avLst/>
          </a:prstGeom>
        </p:spPr>
      </p:pic>
      <p:pic>
        <p:nvPicPr>
          <p:cNvPr id="73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949501" y="1200607"/>
            <a:ext cx="571500" cy="571500"/>
          </a:xfrm>
          <a:prstGeom prst="rect">
            <a:avLst/>
          </a:prstGeom>
        </p:spPr>
      </p:pic>
      <p:pic>
        <p:nvPicPr>
          <p:cNvPr id="74" name="Image 21" descr="preencoded.png"/>
          <p:cNvPicPr>
            <a:picLocks noChangeAspect="1"/>
          </p:cNvPicPr>
          <p:nvPr/>
        </p:nvPicPr>
        <p:blipFill>
          <a:blip r:embed="rId24"/>
          <a:srcRect l="-57" r="-57"/>
          <a:stretch/>
        </p:blipFill>
        <p:spPr>
          <a:xfrm>
            <a:off x="2135124" y="1371600"/>
            <a:ext cx="200254" cy="228600"/>
          </a:xfrm>
          <a:prstGeom prst="rect">
            <a:avLst/>
          </a:prstGeom>
        </p:spPr>
      </p:pic>
      <p:pic>
        <p:nvPicPr>
          <p:cNvPr id="75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5810098" y="1200607"/>
            <a:ext cx="571500" cy="571500"/>
          </a:xfrm>
          <a:prstGeom prst="rect">
            <a:avLst/>
          </a:prstGeom>
        </p:spPr>
      </p:pic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26"/>
          <a:srcRect l="-80" r="-80"/>
          <a:stretch/>
        </p:blipFill>
        <p:spPr>
          <a:xfrm>
            <a:off x="5952744" y="1371600"/>
            <a:ext cx="286207" cy="228600"/>
          </a:xfrm>
          <a:prstGeom prst="rect">
            <a:avLst/>
          </a:prstGeom>
        </p:spPr>
      </p:pic>
      <p:pic>
        <p:nvPicPr>
          <p:cNvPr id="77" name="Image 24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9670694" y="1200607"/>
            <a:ext cx="571500" cy="571500"/>
          </a:xfrm>
          <a:prstGeom prst="rect">
            <a:avLst/>
          </a:prstGeom>
        </p:spPr>
      </p:pic>
      <p:pic>
        <p:nvPicPr>
          <p:cNvPr id="78" name="Image 25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9842602" y="13716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15207" y="1047902"/>
            <a:ext cx="4762195" cy="4762195"/>
          </a:xfrm>
          <a:prstGeom prst="ellipse">
            <a:avLst/>
          </a:prstGeom>
          <a:noFill/>
          <a:ln w="25400">
            <a:solidFill>
              <a:srgbClr val="34D399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62402" y="95098"/>
            <a:ext cx="6667805" cy="6667805"/>
          </a:xfrm>
          <a:prstGeom prst="ellipse">
            <a:avLst/>
          </a:prstGeom>
          <a:noFill/>
          <a:ln w="12700">
            <a:solidFill>
              <a:srgbClr val="60A5FA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598" y="-857707"/>
            <a:ext cx="8572500" cy="8572500"/>
          </a:xfrm>
          <a:prstGeom prst="ellipse">
            <a:avLst/>
          </a:prstGeom>
          <a:noFill/>
          <a:ln w="25400">
            <a:solidFill>
              <a:srgbClr val="FFFFFF">
                <a:alpha val="2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8202" y="780898"/>
            <a:ext cx="5296205" cy="52962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979822" y="6388913"/>
            <a:ext cx="23280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>
                <a:solidFill>
                  <a:srgbClr val="94A3B8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IoT Automation Project 2026</a:t>
            </a:r>
            <a:endParaRPr lang="en-US" sz="9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40073" y="1140257"/>
            <a:ext cx="512521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Questions? </a:t>
            </a:r>
            <a:endParaRPr lang="en-US" sz="66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rcRect l="-315" r="-315"/>
          <a:stretch/>
        </p:blipFill>
        <p:spPr>
          <a:xfrm>
            <a:off x="3021178" y="1267358"/>
            <a:ext cx="838505" cy="6665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04004" y="2061972"/>
            <a:ext cx="29910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kern="0" spc="30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30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524805" y="3243377"/>
            <a:ext cx="1143000" cy="57607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2849270" y="3909974"/>
            <a:ext cx="6494069" cy="1807769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3125419" y="4328770"/>
            <a:ext cx="59436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Parking IoT Reservation System</a:t>
            </a:r>
            <a:endParaRPr lang="en-US" sz="2100"/>
          </a:p>
        </p:txBody>
      </p:sp>
      <p:sp>
        <p:nvSpPr>
          <p:cNvPr id="16" name="Shape 9"/>
          <p:cNvSpPr/>
          <p:nvPr/>
        </p:nvSpPr>
        <p:spPr>
          <a:xfrm>
            <a:off x="4210812" y="4881982"/>
            <a:ext cx="3771900" cy="448056"/>
          </a:xfrm>
          <a:prstGeom prst="roundRect">
            <a:avLst>
              <a:gd name="adj" fmla="val 34737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48556" y="5013655"/>
            <a:ext cx="181051" cy="181051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743907" y="4881982"/>
            <a:ext cx="303855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7521955 Davronbek Orifjonov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revision>50</cp:revision>
  <dcterms:created xsi:type="dcterms:W3CDTF">2026-02-07T16:23:22Z</dcterms:created>
  <dcterms:modified xsi:type="dcterms:W3CDTF">2026-02-07T17:03:08Z</dcterms:modified>
</cp:coreProperties>
</file>